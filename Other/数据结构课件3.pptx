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7" r:id="rId2"/>
    <p:sldId id="295" r:id="rId3"/>
    <p:sldId id="477" r:id="rId4"/>
    <p:sldId id="408" r:id="rId5"/>
    <p:sldId id="410" r:id="rId6"/>
    <p:sldId id="413" r:id="rId7"/>
    <p:sldId id="411" r:id="rId8"/>
    <p:sldId id="416" r:id="rId9"/>
    <p:sldId id="414" r:id="rId10"/>
    <p:sldId id="415" r:id="rId11"/>
    <p:sldId id="418" r:id="rId12"/>
    <p:sldId id="419" r:id="rId13"/>
    <p:sldId id="420" r:id="rId14"/>
    <p:sldId id="421" r:id="rId15"/>
    <p:sldId id="423" r:id="rId16"/>
    <p:sldId id="422" r:id="rId17"/>
    <p:sldId id="424" r:id="rId18"/>
    <p:sldId id="425" r:id="rId19"/>
    <p:sldId id="427" r:id="rId20"/>
    <p:sldId id="426" r:id="rId21"/>
    <p:sldId id="428" r:id="rId22"/>
    <p:sldId id="429" r:id="rId23"/>
    <p:sldId id="431" r:id="rId24"/>
    <p:sldId id="430" r:id="rId25"/>
    <p:sldId id="432" r:id="rId26"/>
    <p:sldId id="434" r:id="rId27"/>
    <p:sldId id="433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4" r:id="rId36"/>
    <p:sldId id="442" r:id="rId37"/>
    <p:sldId id="443" r:id="rId38"/>
    <p:sldId id="445" r:id="rId39"/>
    <p:sldId id="446" r:id="rId40"/>
    <p:sldId id="447" r:id="rId41"/>
    <p:sldId id="453" r:id="rId42"/>
    <p:sldId id="451" r:id="rId43"/>
    <p:sldId id="452" r:id="rId44"/>
    <p:sldId id="450" r:id="rId45"/>
    <p:sldId id="454" r:id="rId46"/>
    <p:sldId id="455" r:id="rId47"/>
    <p:sldId id="456" r:id="rId48"/>
    <p:sldId id="457" r:id="rId49"/>
    <p:sldId id="458" r:id="rId50"/>
    <p:sldId id="459" r:id="rId51"/>
    <p:sldId id="460" r:id="rId52"/>
    <p:sldId id="461" r:id="rId53"/>
    <p:sldId id="463" r:id="rId54"/>
    <p:sldId id="464" r:id="rId55"/>
    <p:sldId id="465" r:id="rId56"/>
    <p:sldId id="467" r:id="rId57"/>
    <p:sldId id="468" r:id="rId58"/>
    <p:sldId id="469" r:id="rId59"/>
    <p:sldId id="470" r:id="rId60"/>
    <p:sldId id="471" r:id="rId61"/>
    <p:sldId id="472" r:id="rId62"/>
    <p:sldId id="473" r:id="rId63"/>
    <p:sldId id="474" r:id="rId64"/>
    <p:sldId id="475" r:id="rId65"/>
    <p:sldId id="476" r:id="rId66"/>
    <p:sldId id="479" r:id="rId67"/>
    <p:sldId id="485" r:id="rId68"/>
    <p:sldId id="484" r:id="rId69"/>
    <p:sldId id="480" r:id="rId70"/>
    <p:sldId id="486" r:id="rId71"/>
    <p:sldId id="487" r:id="rId72"/>
    <p:sldId id="488" r:id="rId73"/>
    <p:sldId id="489" r:id="rId74"/>
    <p:sldId id="481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000000"/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21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4/17/2021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查找的基本概念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40" y="1186925"/>
            <a:ext cx="8842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 Table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由相同数据类型的数据元素构成的集合（线性表、树、散列表）。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：数据元素中某个数据项，它可以标识一个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数据元素，是唯一的。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347015" y="2158795"/>
          <a:ext cx="10152909" cy="1645920"/>
        </p:xfrm>
        <a:graphic>
          <a:graphicData uri="http://schemas.openxmlformats.org/drawingml/2006/table">
            <a:tbl>
              <a:tblPr/>
              <a:tblGrid>
                <a:gridCol w="561800"/>
                <a:gridCol w="963489"/>
                <a:gridCol w="623943"/>
                <a:gridCol w="796066"/>
                <a:gridCol w="516367"/>
                <a:gridCol w="451821"/>
                <a:gridCol w="1667436"/>
                <a:gridCol w="4571987"/>
              </a:tblGrid>
              <a:tr h="2127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编号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姓名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颜值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身材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体重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身高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出生时间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备注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24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西施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漂亮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火辣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48.5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170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2000-01-01 01:12:35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这是一个非常漂亮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姑娘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老公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是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夫差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男朋友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是范蠡。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9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貂禅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漂亮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火辣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45.2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168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1997-08-02 12:20:38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王允真不是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男人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干不过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董卓就把美人往火坑里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推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千古罪人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啊。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7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3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妲已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漂亮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丰满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53.6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172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1998-03-03 10:50:33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如果商真的因我而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亡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您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们男人做什么去了？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8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4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芙蓉姐姐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猪扒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膘肥体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壮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85.8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171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1980-05-05 10:11:55</a:t>
                      </a:r>
                      <a:endParaRPr lang="zh-CN" sz="1200" kern="10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如果不努力学习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技术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将来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就会娶个芙蓉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姐姐</a:t>
                      </a: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哼哼</a:t>
                      </a:r>
                      <a:r>
                        <a:rPr lang="zh-CN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。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5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范冰冰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漂亮</a:t>
                      </a:r>
                      <a:endParaRPr lang="en-US" sz="1200" kern="100" dirty="0">
                        <a:solidFill>
                          <a:srgbClr val="000000"/>
                        </a:solidFill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火树银花</a:t>
                      </a:r>
                      <a:endParaRPr lang="en-US" sz="1200" kern="100" dirty="0">
                        <a:solidFill>
                          <a:srgbClr val="000000"/>
                        </a:solidFill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49.5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170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1985-12-08 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12:10:35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zh-CN" altLang="en-US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这个年代怎么了，女神也有嫁不出去的</a:t>
                      </a:r>
                      <a:r>
                        <a:rPr lang="zh-CN" sz="1200" kern="100" dirty="0" smtClean="0">
                          <a:solidFill>
                            <a:srgbClr val="000000"/>
                          </a:solidFill>
                          <a:latin typeface="Arial"/>
                          <a:ea typeface="宋体"/>
                          <a:cs typeface="Times New Roman"/>
                        </a:rPr>
                        <a:t>。</a:t>
                      </a:r>
                      <a:endParaRPr lang="zh-CN" sz="1200" kern="100" dirty="0">
                        <a:latin typeface="Arial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17370" y="3996551"/>
            <a:ext cx="10110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Searching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：根据给定的某个值，在查找表中找到一个关键字等于给定值的数据元素。如果表中存在这样的一个数据元素，则称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的，否则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静态查找表（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 Search Table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：查找表中的数据元素不会发生变化。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动态查找表（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Search Table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：查找表中的数据元素会发生变化（插入、修改和删除）。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查找长度（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 Length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在查找运算中，需要对比关键字的次数。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平均查找长度（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Average Serach Length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所有查找过程中进行关键字比较次数的平均值，用于衡量查找算法的效率，包括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两种情况。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40" y="1186925"/>
            <a:ext cx="8455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顺序查找（线性查找）：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用于在静态的线性表（顺序表或链表）中进行查找。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算法思想是从线性表的某一端开始，把表中的元素与关键字逐个比较（线性表的遍历）。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4343" y="2104617"/>
            <a:ext cx="53054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66630" y="2092361"/>
            <a:ext cx="96639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23199" y="2836451"/>
            <a:ext cx="110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1070" y="3639321"/>
            <a:ext cx="8008937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顺序查找优化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哨兵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531178" y="1263995"/>
            <a:ext cx="96639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0192" y="2764090"/>
            <a:ext cx="59531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3626" y="3697493"/>
            <a:ext cx="765651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23969" y="2078794"/>
            <a:ext cx="355899" cy="69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89934" y="2707355"/>
            <a:ext cx="96639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96614" y="1301057"/>
            <a:ext cx="53054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顺序查找优化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先排序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30767" y="1339301"/>
            <a:ext cx="135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6463" y="2703173"/>
            <a:ext cx="7837487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97829" y="1397879"/>
            <a:ext cx="53054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987" y="1965081"/>
            <a:ext cx="110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67192" y="2000305"/>
            <a:ext cx="10572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56" y="1861049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69684" y="1861049"/>
            <a:ext cx="5163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  (1+2+3+…+n)/n      n(n+1)/2n    (n+1)/2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83342" y="1125929"/>
            <a:ext cx="127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3015" y="1193407"/>
            <a:ext cx="28765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4644" y="2422253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71472" y="2422253"/>
            <a:ext cx="5163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  (1+2+3+….n+n) /(n+1)           n/2+n/(n+1)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7929" y="3195194"/>
            <a:ext cx="3874755" cy="308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17404" y="3107189"/>
            <a:ext cx="127298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查找判定树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019373" y="3359968"/>
            <a:ext cx="4900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）可以很方便的找出查找失败情况；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）可以很方便的计算出每个结点比较关键的次数。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成功：结点所在的层即比较关键字的次数。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失败：父结点所在的层即比较关键字的次数。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顺序查找优化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跳跃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9810" y="2725074"/>
            <a:ext cx="7923213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30767" y="1274753"/>
            <a:ext cx="135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97829" y="1333331"/>
            <a:ext cx="53054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987" y="1900533"/>
            <a:ext cx="110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67192" y="1935757"/>
            <a:ext cx="10572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56" y="5335808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83342" y="1125929"/>
            <a:ext cx="127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4644" y="5897012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20580" y="1902329"/>
            <a:ext cx="127298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查找判定树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4949" y="1128937"/>
            <a:ext cx="53054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4148" y="1658695"/>
            <a:ext cx="4109085" cy="344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05138" y="5357284"/>
            <a:ext cx="516367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  5          1  2  6  12 10=31/9 =3.44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06926" y="5918488"/>
            <a:ext cx="516367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  5.4       40/10 4  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被查找概率不同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5310" y="1473184"/>
            <a:ext cx="29622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083858" y="1472044"/>
            <a:ext cx="96639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777279" y="2196402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294107" y="2196402"/>
            <a:ext cx="449489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1*0.4+2*0.4+3*0.18+4*0.12+5*0.1=2.72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779067" y="2757606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295895" y="2757606"/>
            <a:ext cx="42241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n  5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4856" y="1368401"/>
            <a:ext cx="1462929" cy="1823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39087" y="4050252"/>
            <a:ext cx="154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08028" y="4753098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24856" y="4753098"/>
            <a:ext cx="2441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(n+1)/2  3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20574" y="5195964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37402" y="5195964"/>
            <a:ext cx="2569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n            5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51968" y="4808739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768796" y="4808739"/>
            <a:ext cx="276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(n+1)/2  3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723059" y="4116651"/>
            <a:ext cx="1918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02127" y="4141097"/>
            <a:ext cx="28765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6186" y="4108824"/>
            <a:ext cx="28765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53756" y="5369943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770584" y="5369943"/>
            <a:ext cx="2922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n/2+n/(n+1)   3.3 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75" y="1314450"/>
            <a:ext cx="61912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0925" y="1552575"/>
            <a:ext cx="501015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89944" y="1402073"/>
            <a:ext cx="6416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折半查找（二分查找）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：只适用于有序（升序或降序）的顺序表。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424" y="2171084"/>
            <a:ext cx="68389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:a16="http://schemas.microsoft.com/office/drawing/2014/main" xmlns="" id="{9EBE7EC0-2F2A-4A9F-BB83-DBE4093374F9}"/>
              </a:ext>
            </a:extLst>
          </p:cNvPr>
          <p:cNvSpPr txBox="1"/>
          <p:nvPr/>
        </p:nvSpPr>
        <p:spPr>
          <a:xfrm>
            <a:off x="1032729" y="1387833"/>
            <a:ext cx="9724913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源代码在视频发布后的视频简介中，清单如下：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）程序名：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binsearch.c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，此程序演示折半查找，包括迭代和递归两种方案。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8861" y="1322547"/>
            <a:ext cx="64770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00463" y="1298140"/>
            <a:ext cx="1305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13009" y="1913134"/>
            <a:ext cx="130525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查找判定树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71738" y="1995780"/>
            <a:ext cx="72485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88941" y="5775099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05768" y="5775099"/>
            <a:ext cx="613186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(1*1+2*2+4*3+4*4)/11=3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01487" y="6217965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18314" y="6217965"/>
            <a:ext cx="4021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(4*3+8*4)/12=3.67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733" y="1995780"/>
            <a:ext cx="6839620" cy="3415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查找判定树分析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8861" y="1322547"/>
            <a:ext cx="64770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00463" y="1298140"/>
            <a:ext cx="1305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有序查找表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446080" y="1966923"/>
            <a:ext cx="207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查找判定树的性质：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412019" y="2418706"/>
            <a:ext cx="438912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）查找判定树的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中序遍历序列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与查找表相同；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mid=                       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，判定树中任何子树的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右子树结点数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左子树结点数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）判定树是一棵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平衡的二叉排序树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）除了最后一层，判定树其它层的结点一定是满的，查找表为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的判定树高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h=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）查找表为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的判定树有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个失败叶结点；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）查找成功和失败的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ASL&lt;=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）算法时间复杂度为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O(log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n)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80494" y="2864280"/>
            <a:ext cx="15525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385826" y="4346537"/>
            <a:ext cx="1504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23169" y="5775099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839996" y="5775099"/>
            <a:ext cx="613186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(1*1+2*2+4*3+4*4)/11=3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5715" y="6217965"/>
            <a:ext cx="131601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lang="en-US" altLang="zh-CN" sz="1600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852542" y="6217965"/>
            <a:ext cx="4021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(4*3+8*4)/12=3.67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2412" y="1923994"/>
            <a:ext cx="47720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3365" y="2497793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24394" y="1396737"/>
            <a:ext cx="8487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分块查找（索引顺序查找），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是顺序查找的一种改进方法。在此查找法中，除表本身外，还需要建立一个索引表。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926984" y="1999199"/>
            <a:ext cx="87673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索引表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66682" y="2538887"/>
            <a:ext cx="19327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分块最大关键字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035422" y="2992511"/>
            <a:ext cx="12765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分块起始地址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572386" y="4077220"/>
            <a:ext cx="87673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58460" y="4948527"/>
            <a:ext cx="8487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查找过程：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）先查找索引表，确定待查元素所属的分块（顺序查找或折半查找）。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）在分块内用顺序查找法。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3365" y="1755491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顺序查找索引表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43493" y="1785803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4582800" y="1409219"/>
            <a:ext cx="225911" cy="3119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58460" y="4249257"/>
            <a:ext cx="8487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查找过程：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）先用顺序查找法查找索引表，确定待查元素所属的分块。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）在分块内用顺序查找法。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82457" y="1763805"/>
            <a:ext cx="495299" cy="495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下箭头 32"/>
          <p:cNvSpPr/>
          <p:nvPr/>
        </p:nvSpPr>
        <p:spPr>
          <a:xfrm>
            <a:off x="4918086" y="3003191"/>
            <a:ext cx="225911" cy="311971"/>
          </a:xfrm>
          <a:prstGeom prst="downArrow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3365" y="1755491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折半查找索引表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43493" y="1785803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58460" y="4249257"/>
            <a:ext cx="9733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查找过程：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）先用折半查找法查找索引表，确定待查元素所属的分块。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）在分块内用顺序查找法。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，索引表比较了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次关键字，查找表比较了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次关键字，共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，索引表比较了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次关键字，查找表比较了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次关键字，共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如果查找目标不在索引表的关键字中，折半查找索引表最终停留在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low&gt;high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low&lt;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索引表长。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496670" y="1376979"/>
            <a:ext cx="270797" cy="345999"/>
          </a:xfrm>
          <a:prstGeom prst="down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</a:t>
            </a:r>
            <a:endParaRPr lang="zh-CN" altLang="en-US" dirty="0"/>
          </a:p>
        </p:txBody>
      </p:sp>
      <p:sp>
        <p:nvSpPr>
          <p:cNvPr id="24" name="下箭头 23"/>
          <p:cNvSpPr/>
          <p:nvPr/>
        </p:nvSpPr>
        <p:spPr>
          <a:xfrm>
            <a:off x="4294056" y="1389525"/>
            <a:ext cx="270797" cy="345999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</a:t>
            </a:r>
            <a:endParaRPr lang="zh-CN" altLang="en-US" dirty="0"/>
          </a:p>
        </p:txBody>
      </p:sp>
      <p:sp>
        <p:nvSpPr>
          <p:cNvPr id="25" name="下箭头 24"/>
          <p:cNvSpPr/>
          <p:nvPr/>
        </p:nvSpPr>
        <p:spPr>
          <a:xfrm>
            <a:off x="4026894" y="1391313"/>
            <a:ext cx="270797" cy="345999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H</a:t>
            </a:r>
            <a:endParaRPr lang="zh-CN" alt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7111" y="1841239"/>
            <a:ext cx="914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3365" y="1755491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81764" y="4304835"/>
            <a:ext cx="8645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分块查找的算法是折半查找和顺序查找算法的简单合成，所以分块查找的平均查找长度为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ASL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47888" y="1172617"/>
            <a:ext cx="9251576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如果把长度为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的查找表均匀地分成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块，每块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b=n/s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81764" y="4304835"/>
            <a:ext cx="864557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如果用顺序查找法查找索引表，则分块查找的平均查找长度为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ASL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</a:p>
          <a:p>
            <a:pPr>
              <a:lnSpc>
                <a:spcPct val="150000"/>
              </a:lnSpc>
            </a:pPr>
            <a:endParaRPr lang="en-US" altLang="zh-CN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如果用折半查找法查找索引表，则分块查找的平均查找长度为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ASL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+L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≈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4764" y="1820068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1166" y="4847721"/>
            <a:ext cx="53054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24381" y="5692983"/>
            <a:ext cx="21717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分块查找顺序存储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4735" y="1680185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分块查找链式存储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4213" y="1538288"/>
            <a:ext cx="574357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分块查找链式存储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5833" y="1506014"/>
            <a:ext cx="486727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1425" y="2147087"/>
            <a:ext cx="46291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二叉排序树（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3963" y="4263301"/>
            <a:ext cx="621982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3802" y="1632871"/>
            <a:ext cx="60674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叉排序树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50" y="1733427"/>
            <a:ext cx="70485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叉排序树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50" y="1253525"/>
            <a:ext cx="70485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叉排序树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50" y="1253525"/>
            <a:ext cx="70485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4769" y="4572840"/>
            <a:ext cx="689451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叉排序树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6963" y="1422632"/>
            <a:ext cx="74580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4011" y="4917096"/>
            <a:ext cx="689451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下箭头 17"/>
          <p:cNvSpPr/>
          <p:nvPr/>
        </p:nvSpPr>
        <p:spPr>
          <a:xfrm>
            <a:off x="5820272" y="1075852"/>
            <a:ext cx="225911" cy="3119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23201" y="1366241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查找目标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95719" y="1446906"/>
            <a:ext cx="1398550" cy="35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74551" y="4464427"/>
            <a:ext cx="10832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树）是一种平衡的多路查找树，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树中所有结点的子树个数的最大值称为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树的阶，用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表示。一棵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树，如果不为空，就必须满足以下特性：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）树中每个结点至多有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m-1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个关键字，即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棵子树；（叶结点也算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树的结点。）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）除根结点外，所有非叶结点至少含有               个关键字，即          棵子树。（根结点关键字的个数可以小于              ，可以没有子树，如果有子树，则至少有两棵。）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3848" y="5654035"/>
            <a:ext cx="771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313" y="5662330"/>
            <a:ext cx="54292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0" y="3420952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-8970" y="3949882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7741" y="6021588"/>
            <a:ext cx="771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8261" y="1196731"/>
            <a:ext cx="10405176" cy="311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74551" y="4464427"/>
            <a:ext cx="10832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）所有叶结点都在同一层上（各子树没有高度差，绝对平衡）。叶结点不带信息，实际上不存在，可以看成查找失败的结点。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）所有非叶结点的结构为：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其中，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i=1,2,3,…,n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）为结点的关键字，且满足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&lt;K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&lt;K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&lt;…&lt;K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P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i=0,1,2,3,…,n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）为指向子树根结点的指针。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0" y="3420952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-8970" y="3917608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261" y="1196731"/>
            <a:ext cx="10405176" cy="311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39886" y="5263924"/>
            <a:ext cx="38100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14177" y="3288594"/>
            <a:ext cx="689451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树的考点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6216" y="4464427"/>
            <a:ext cx="111556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一棵含有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个关键字的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）有多少个叶结点？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）最小高度是多少？  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最胖的树最矮，让树中每个结点有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m-1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个关键字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+……+m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h-1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)(m-1)=m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-1≥n            </a:t>
            </a:r>
            <a:r>
              <a:rPr lang="en-US" altLang="zh-CN" sz="1600" dirty="0" smtClean="0"/>
              <a:t>h≥log</a:t>
            </a:r>
            <a:r>
              <a:rPr lang="en-US" altLang="zh-CN" sz="1600" baseline="-25000" dirty="0" smtClean="0"/>
              <a:t>m</a:t>
            </a:r>
            <a:r>
              <a:rPr lang="en-US" altLang="zh-CN" sz="1600" dirty="0" smtClean="0"/>
              <a:t>(n+1)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）最大高度是多少？  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最瘦的树最高，让树中每个结点有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个关键字，根结点只有一个关键字就行。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注：最小高度和最大高度不包括叶结点。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0" y="3420952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-8970" y="3917608"/>
            <a:ext cx="128016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叶结点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261" y="1196731"/>
            <a:ext cx="10405176" cy="311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82342" y="6041310"/>
            <a:ext cx="771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5607" y="6230583"/>
            <a:ext cx="25717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树的插入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30742" y="43264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43264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73771" y="43587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27395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43623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67963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6832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68500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2068" y="4958392"/>
            <a:ext cx="988536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317897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317897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32112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5321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53573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54827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589035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600276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4328254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4328254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65778" y="436052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19402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25028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53</a:t>
            </a:r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578652" y="436409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54</a:t>
            </a:r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68142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68500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68679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596700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558556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566221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320407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193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193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515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551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724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760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778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568042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216951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21695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220178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52269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5262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5388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21946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314850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314850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318076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50167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5052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51779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317359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589024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587236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201269" y="1785754"/>
            <a:ext cx="29907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）查找新关键字应该插入的位置。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）新关键字会插入到终端结点中。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）树向右和向上分裂。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）结点关键字的个数不能超出范围；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）结点内的关键字有序排列。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）为什么根结点可以只有一个关键？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树的插入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30742" y="43264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43264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73771" y="43587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27395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43623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67963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6832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68500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317897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317897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32112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5321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53573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54827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589035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600276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4328254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4328254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65778" y="436052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19402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25028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53</a:t>
            </a:r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578652" y="436409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54</a:t>
            </a:r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68142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68500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68679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596700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558556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566221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320407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193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193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515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551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724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760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778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568042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216951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21695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220178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52269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5262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5388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21946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314850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314850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318076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50167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5052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51779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317359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589024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587236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树的删除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30742" y="43264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43264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73771" y="43587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27395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43623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67963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6832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68500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317897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317897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32112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5321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53573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54827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589035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600276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4328254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4328254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65778" y="436052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19402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25028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578652" y="436409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68142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68500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68679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596700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558556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566221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320407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193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193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515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69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551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724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760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778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568042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216951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21695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220178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52269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5262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5388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21946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314850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314850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318076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50167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5052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51779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317359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589024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587236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2039" y="5117559"/>
            <a:ext cx="107711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树的删除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30742" y="43264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43264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73771" y="43587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27395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43623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67963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6832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68500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317897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317897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32112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28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5321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53573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54827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589035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600276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4328254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4328254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65778" y="436052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19402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25028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578652" y="436409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68142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68500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68679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596700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558556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566221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320407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193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193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515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69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551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724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760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778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568042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216951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21695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220178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52269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5262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5388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21946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314850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314850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318076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50167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5052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51779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317359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589024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587236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3425" y="5179148"/>
            <a:ext cx="10723563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树的删除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30742" y="43264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43264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73771" y="43587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27395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4360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43623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67963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6832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68142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68500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317897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317897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32112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28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321303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5321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53573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5339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54827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589035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600276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4328254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4328254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65778" y="436052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19402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25028" y="436230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578652" y="436409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68142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68500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68321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68679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596700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558556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566221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320407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193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193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515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533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69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551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724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760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742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778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568042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216951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21695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220178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22035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52269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5262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5244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53881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21946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314850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314850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318076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318255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50167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5052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50346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51779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317359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589024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587236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8933" y="5079962"/>
            <a:ext cx="10914063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树的删除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305" y="1670181"/>
            <a:ext cx="27622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圆角矩形 48"/>
          <p:cNvSpPr/>
          <p:nvPr/>
        </p:nvSpPr>
        <p:spPr>
          <a:xfrm>
            <a:off x="1938086" y="431570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2895512" y="431570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981115" y="434797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2434739" y="43497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28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2940365" y="43497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3393989" y="435154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2366595" y="466887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948821" y="46706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2875797" y="467245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3347361" y="467066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3802773" y="467424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43067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43067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67687" y="43390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80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21311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43407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434258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6599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6634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6617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66527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5018358" y="279169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5975784" y="279169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5061387" y="282396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6020637" y="282575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6461715" y="282575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5446867" y="314487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5029093" y="314666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5956069" y="314845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6427633" y="314666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6883045" y="31609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2895512" y="3201755"/>
            <a:ext cx="2188674" cy="111394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0" idx="4"/>
          </p:cNvCxnSpPr>
          <p:nvPr/>
        </p:nvCxnSpPr>
        <p:spPr>
          <a:xfrm flipH="1">
            <a:off x="4615014" y="3209420"/>
            <a:ext cx="864126" cy="113669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430675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430675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433902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434081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434260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6599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66350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66172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66529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72" idx="5"/>
            <a:endCxn id="45" idx="0"/>
          </p:cNvCxnSpPr>
          <p:nvPr/>
        </p:nvCxnSpPr>
        <p:spPr>
          <a:xfrm>
            <a:off x="6011162" y="3203543"/>
            <a:ext cx="1070922" cy="110319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42977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42977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433006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433184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43336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6509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65454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65275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65633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78" idx="4"/>
            <a:endCxn id="119" idx="0"/>
          </p:cNvCxnSpPr>
          <p:nvPr/>
        </p:nvCxnSpPr>
        <p:spPr>
          <a:xfrm>
            <a:off x="6459906" y="3211208"/>
            <a:ext cx="2633796" cy="109554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5506087" y="281679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430854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430854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168554" y="434081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22178" y="434260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27804" y="434260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69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434439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66172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66351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66529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66351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66708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91" idx="5"/>
            <a:endCxn id="134" idx="0"/>
          </p:cNvCxnSpPr>
          <p:nvPr/>
        </p:nvCxnSpPr>
        <p:spPr>
          <a:xfrm>
            <a:off x="6938138" y="3216089"/>
            <a:ext cx="4136757" cy="108170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2897" y="5013624"/>
            <a:ext cx="10866437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树的删除 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130742" y="390689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088168" y="390689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206044" y="393916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659668" y="394095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25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133021" y="394095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586645" y="394274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3" name="椭圆 72"/>
          <p:cNvSpPr/>
          <p:nvPr/>
        </p:nvSpPr>
        <p:spPr>
          <a:xfrm>
            <a:off x="559251" y="426007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41477" y="426186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068453" y="426365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540017" y="426186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995429" y="426543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8569" y="1305654"/>
            <a:ext cx="979963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圆角矩形 44"/>
          <p:cNvSpPr/>
          <p:nvPr/>
        </p:nvSpPr>
        <p:spPr>
          <a:xfrm>
            <a:off x="6124658" y="3887176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082084" y="3887176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99960" y="391944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81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653584" y="392123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82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126937" y="3921231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83</a:t>
            </a:r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580561" y="392301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7" name="椭圆 56"/>
          <p:cNvSpPr/>
          <p:nvPr/>
        </p:nvSpPr>
        <p:spPr>
          <a:xfrm>
            <a:off x="6553167" y="424035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135393" y="424213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062369" y="424392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533933" y="424213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989345" y="424571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963633" y="275941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3921059" y="275941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006662" y="279168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30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3965912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406990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0" name="椭圆 69"/>
          <p:cNvSpPr/>
          <p:nvPr/>
        </p:nvSpPr>
        <p:spPr>
          <a:xfrm>
            <a:off x="3392142" y="311259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74368" y="31143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901344" y="311616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372908" y="311438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828320" y="312871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71" idx="5"/>
            <a:endCxn id="49" idx="0"/>
          </p:cNvCxnSpPr>
          <p:nvPr/>
        </p:nvCxnSpPr>
        <p:spPr>
          <a:xfrm flipH="1">
            <a:off x="1088168" y="3169473"/>
            <a:ext cx="1941293" cy="7374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72" idx="4"/>
          </p:cNvCxnSpPr>
          <p:nvPr/>
        </p:nvCxnSpPr>
        <p:spPr>
          <a:xfrm>
            <a:off x="3933617" y="3180714"/>
            <a:ext cx="681397" cy="7458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122749" y="3908692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>
            <a:stCxn id="101" idx="0"/>
            <a:endCxn id="101" idx="2"/>
          </p:cNvCxnSpPr>
          <p:nvPr/>
        </p:nvCxnSpPr>
        <p:spPr>
          <a:xfrm>
            <a:off x="3080175" y="390869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198051" y="3940959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40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2651675" y="394274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50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157301" y="394274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53</a:t>
            </a:r>
            <a:endParaRPr lang="zh-CN" altLang="en-US" sz="1400" dirty="0"/>
          </a:p>
        </p:txBody>
      </p:sp>
      <p:sp>
        <p:nvSpPr>
          <p:cNvPr id="106" name="矩形 105"/>
          <p:cNvSpPr/>
          <p:nvPr/>
        </p:nvSpPr>
        <p:spPr>
          <a:xfrm>
            <a:off x="3610925" y="394453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54</a:t>
            </a:r>
            <a:endParaRPr lang="zh-CN" altLang="en-US" sz="1400" dirty="0"/>
          </a:p>
        </p:txBody>
      </p:sp>
      <p:sp>
        <p:nvSpPr>
          <p:cNvPr id="107" name="椭圆 106"/>
          <p:cNvSpPr/>
          <p:nvPr/>
        </p:nvSpPr>
        <p:spPr>
          <a:xfrm>
            <a:off x="2551258" y="4261867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2133484" y="426365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060460" y="426544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3532024" y="426365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3976710" y="426723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112"/>
          <p:cNvCxnSpPr>
            <a:stCxn id="70" idx="4"/>
            <a:endCxn id="101" idx="0"/>
          </p:cNvCxnSpPr>
          <p:nvPr/>
        </p:nvCxnSpPr>
        <p:spPr>
          <a:xfrm flipH="1">
            <a:off x="3080175" y="3177138"/>
            <a:ext cx="344240" cy="7315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136276" y="388719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>
            <a:stCxn id="119" idx="0"/>
            <a:endCxn id="119" idx="2"/>
          </p:cNvCxnSpPr>
          <p:nvPr/>
        </p:nvCxnSpPr>
        <p:spPr>
          <a:xfrm>
            <a:off x="9093702" y="388719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179305" y="391946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88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632929" y="392125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90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138555" y="392125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4" name="矩形 123"/>
          <p:cNvSpPr/>
          <p:nvPr/>
        </p:nvSpPr>
        <p:spPr>
          <a:xfrm>
            <a:off x="9592179" y="392303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5" name="椭圆 124"/>
          <p:cNvSpPr/>
          <p:nvPr/>
        </p:nvSpPr>
        <p:spPr>
          <a:xfrm>
            <a:off x="8564785" y="424037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8147011" y="424215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9073987" y="424394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9545551" y="424215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0000963" y="424573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>
            <a:stCxn id="187" idx="3"/>
            <a:endCxn id="45" idx="0"/>
          </p:cNvCxnSpPr>
          <p:nvPr/>
        </p:nvCxnSpPr>
        <p:spPr>
          <a:xfrm flipH="1">
            <a:off x="7082084" y="3138994"/>
            <a:ext cx="249671" cy="7481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117469" y="387823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074895" y="387823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160498" y="391049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94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614122" y="391228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98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119748" y="391228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573372" y="391407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0" name="椭圆 139"/>
          <p:cNvSpPr/>
          <p:nvPr/>
        </p:nvSpPr>
        <p:spPr>
          <a:xfrm>
            <a:off x="10545978" y="423140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10128204" y="423319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11055180" y="423498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11526744" y="423319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11982156" y="423677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86" idx="4"/>
            <a:endCxn id="119" idx="0"/>
          </p:cNvCxnSpPr>
          <p:nvPr/>
        </p:nvCxnSpPr>
        <p:spPr>
          <a:xfrm>
            <a:off x="7772349" y="3146659"/>
            <a:ext cx="1321353" cy="7405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451362" y="2784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60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125525" y="389974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>
            <a:stCxn id="149" idx="0"/>
            <a:endCxn id="149" idx="2"/>
          </p:cNvCxnSpPr>
          <p:nvPr/>
        </p:nvCxnSpPr>
        <p:spPr>
          <a:xfrm>
            <a:off x="5082951" y="389974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200827" y="393201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65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654451" y="393379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68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138561" y="393379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69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5581428" y="393558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5" name="椭圆 154"/>
          <p:cNvSpPr/>
          <p:nvPr/>
        </p:nvSpPr>
        <p:spPr>
          <a:xfrm>
            <a:off x="4554034" y="425291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136260" y="425470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063236" y="425649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534800" y="425470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5990212" y="4258282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/>
          <p:cNvCxnSpPr>
            <a:stCxn id="180" idx="2"/>
            <a:endCxn id="134" idx="0"/>
          </p:cNvCxnSpPr>
          <p:nvPr/>
        </p:nvCxnSpPr>
        <p:spPr>
          <a:xfrm>
            <a:off x="8268993" y="3148480"/>
            <a:ext cx="2805902" cy="729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5751743" y="174995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6709169" y="174995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794772" y="178222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70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6754022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195100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3" name="椭圆 172"/>
          <p:cNvSpPr/>
          <p:nvPr/>
        </p:nvSpPr>
        <p:spPr>
          <a:xfrm>
            <a:off x="6180252" y="2103128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762478" y="210491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6689454" y="2106704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7161018" y="2104916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7616430" y="2119250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6239472" y="177505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7311567" y="27289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8268993" y="27289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7354596" y="27612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85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8313846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8754924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6" name="椭圆 185"/>
          <p:cNvSpPr/>
          <p:nvPr/>
        </p:nvSpPr>
        <p:spPr>
          <a:xfrm>
            <a:off x="7740076" y="3082113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/>
          <p:cNvSpPr/>
          <p:nvPr/>
        </p:nvSpPr>
        <p:spPr>
          <a:xfrm>
            <a:off x="7322302" y="30839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249278" y="3085689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8720842" y="3083901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9176254" y="3098235"/>
            <a:ext cx="64546" cy="645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7799296" y="275403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93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74" idx="4"/>
            <a:endCxn id="64" idx="0"/>
          </p:cNvCxnSpPr>
          <p:nvPr/>
        </p:nvCxnSpPr>
        <p:spPr>
          <a:xfrm flipH="1">
            <a:off x="3921059" y="2169462"/>
            <a:ext cx="1873692" cy="5899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3" idx="4"/>
            <a:endCxn id="180" idx="0"/>
          </p:cNvCxnSpPr>
          <p:nvPr/>
        </p:nvCxnSpPr>
        <p:spPr>
          <a:xfrm>
            <a:off x="6212525" y="2167674"/>
            <a:ext cx="2056468" cy="5612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6216" y="4754893"/>
            <a:ext cx="111556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）如果待删除的关键字不在终端节点中，则用该关键字的直接前驱或直接后继来代替被删除的关键字。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直接前驱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：当前关键字左侧指针所指向的子树中最右下的关键字。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直接后继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：当前关键字右侧指针所指向的子树中最左下的关键字。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把问题转换为了删除终端结点的关键字。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4942" y="2987361"/>
            <a:ext cx="6024818" cy="3828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-7337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超女数据的组织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731493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733281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735069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733281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735069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736857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474998" y="139466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432424" y="139466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50300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1003924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477277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930901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45" name="圆角矩形 44"/>
          <p:cNvSpPr/>
          <p:nvPr/>
        </p:nvSpPr>
        <p:spPr>
          <a:xfrm>
            <a:off x="6242996" y="1407216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200422" y="1407216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318298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771922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245275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698899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101" name="圆角矩形 100"/>
          <p:cNvSpPr/>
          <p:nvPr/>
        </p:nvSpPr>
        <p:spPr>
          <a:xfrm>
            <a:off x="2692923" y="1407216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/>
          <p:nvPr/>
        </p:nvCxnSpPr>
        <p:spPr>
          <a:xfrm>
            <a:off x="3664752" y="1407216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768225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3221849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716717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119" name="圆角矩形 118"/>
          <p:cNvSpPr/>
          <p:nvPr/>
        </p:nvSpPr>
        <p:spPr>
          <a:xfrm>
            <a:off x="8491290" y="1407235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/>
          <p:nvPr/>
        </p:nvCxnSpPr>
        <p:spPr>
          <a:xfrm>
            <a:off x="9463118" y="138571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534319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987943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504327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134" name="圆角矩形 133"/>
          <p:cNvSpPr/>
          <p:nvPr/>
        </p:nvSpPr>
        <p:spPr>
          <a:xfrm>
            <a:off x="10235807" y="140902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193233" y="140902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278836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732460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238086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691710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469781" y="1398267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/>
          <p:nvPr/>
        </p:nvCxnSpPr>
        <p:spPr>
          <a:xfrm>
            <a:off x="5467578" y="139826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545083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998707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504333" y="143053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562845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16469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489821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943445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4" name="直接箭头连接符 73"/>
          <p:cNvCxnSpPr>
            <a:stCxn id="51" idx="2"/>
            <a:endCxn id="69" idx="0"/>
          </p:cNvCxnSpPr>
          <p:nvPr/>
        </p:nvCxnSpPr>
        <p:spPr>
          <a:xfrm flipH="1">
            <a:off x="760143" y="1796291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52" idx="2"/>
            <a:endCxn id="70" idx="0"/>
          </p:cNvCxnSpPr>
          <p:nvPr/>
        </p:nvCxnSpPr>
        <p:spPr>
          <a:xfrm flipH="1">
            <a:off x="1213767" y="1796291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3" idx="2"/>
            <a:endCxn id="71" idx="0"/>
          </p:cNvCxnSpPr>
          <p:nvPr/>
        </p:nvCxnSpPr>
        <p:spPr>
          <a:xfrm flipH="1">
            <a:off x="1687119" y="1796291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54" idx="2"/>
            <a:endCxn id="72" idx="0"/>
          </p:cNvCxnSpPr>
          <p:nvPr/>
        </p:nvCxnSpPr>
        <p:spPr>
          <a:xfrm flipH="1">
            <a:off x="2140743" y="1796291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780725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234349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729217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8" name="直接箭头连接符 87"/>
          <p:cNvCxnSpPr>
            <a:stCxn id="103" idx="2"/>
            <a:endCxn id="84" idx="0"/>
          </p:cNvCxnSpPr>
          <p:nvPr/>
        </p:nvCxnSpPr>
        <p:spPr>
          <a:xfrm flipH="1">
            <a:off x="2978023" y="1796291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104" idx="2"/>
            <a:endCxn id="85" idx="0"/>
          </p:cNvCxnSpPr>
          <p:nvPr/>
        </p:nvCxnSpPr>
        <p:spPr>
          <a:xfrm flipH="1">
            <a:off x="3431647" y="1796291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105" idx="2"/>
            <a:endCxn id="86" idx="0"/>
          </p:cNvCxnSpPr>
          <p:nvPr/>
        </p:nvCxnSpPr>
        <p:spPr>
          <a:xfrm flipH="1">
            <a:off x="3926515" y="1796291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4566482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020106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525732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98" name="直接箭头连接符 97"/>
          <p:cNvCxnSpPr>
            <a:stCxn id="151" idx="2"/>
            <a:endCxn id="93" idx="0"/>
          </p:cNvCxnSpPr>
          <p:nvPr/>
        </p:nvCxnSpPr>
        <p:spPr>
          <a:xfrm>
            <a:off x="4758442" y="1796291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152" idx="2"/>
            <a:endCxn id="94" idx="0"/>
          </p:cNvCxnSpPr>
          <p:nvPr/>
        </p:nvCxnSpPr>
        <p:spPr>
          <a:xfrm>
            <a:off x="5212066" y="1796291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153" idx="2"/>
            <a:endCxn id="96" idx="0"/>
          </p:cNvCxnSpPr>
          <p:nvPr/>
        </p:nvCxnSpPr>
        <p:spPr>
          <a:xfrm>
            <a:off x="5717692" y="1796291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6330730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784354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257706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711330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1" name="直接箭头连接符 110"/>
          <p:cNvCxnSpPr>
            <a:stCxn id="47" idx="2"/>
            <a:endCxn id="107" idx="0"/>
          </p:cNvCxnSpPr>
          <p:nvPr/>
        </p:nvCxnSpPr>
        <p:spPr>
          <a:xfrm flipH="1">
            <a:off x="6528028" y="1796291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48" idx="2"/>
            <a:endCxn id="108" idx="0"/>
          </p:cNvCxnSpPr>
          <p:nvPr/>
        </p:nvCxnSpPr>
        <p:spPr>
          <a:xfrm flipH="1">
            <a:off x="6981652" y="1796291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55" idx="2"/>
            <a:endCxn id="109" idx="0"/>
          </p:cNvCxnSpPr>
          <p:nvPr/>
        </p:nvCxnSpPr>
        <p:spPr>
          <a:xfrm flipH="1">
            <a:off x="7455004" y="1796291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56" idx="2"/>
            <a:endCxn id="110" idx="0"/>
          </p:cNvCxnSpPr>
          <p:nvPr/>
        </p:nvCxnSpPr>
        <p:spPr>
          <a:xfrm flipH="1">
            <a:off x="7908628" y="1796291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8546812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011194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527578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6" name="直接箭头连接符 125"/>
          <p:cNvCxnSpPr>
            <a:stCxn id="121" idx="2"/>
            <a:endCxn id="116" idx="0"/>
          </p:cNvCxnSpPr>
          <p:nvPr/>
        </p:nvCxnSpPr>
        <p:spPr>
          <a:xfrm flipH="1">
            <a:off x="8744110" y="1796291"/>
            <a:ext cx="356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stCxn id="122" idx="2"/>
            <a:endCxn id="117" idx="0"/>
          </p:cNvCxnSpPr>
          <p:nvPr/>
        </p:nvCxnSpPr>
        <p:spPr>
          <a:xfrm>
            <a:off x="9201302" y="1796291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23" idx="2"/>
            <a:endCxn id="124" idx="0"/>
          </p:cNvCxnSpPr>
          <p:nvPr/>
        </p:nvCxnSpPr>
        <p:spPr>
          <a:xfrm>
            <a:off x="9717686" y="1796291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10300301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753925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1259551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1713175" y="2162058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1" name="直接箭头连接符 140"/>
          <p:cNvCxnSpPr>
            <a:stCxn id="136" idx="2"/>
            <a:endCxn id="131" idx="0"/>
          </p:cNvCxnSpPr>
          <p:nvPr/>
        </p:nvCxnSpPr>
        <p:spPr>
          <a:xfrm>
            <a:off x="10492195" y="1796291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>
            <a:stCxn id="137" idx="2"/>
            <a:endCxn id="132" idx="0"/>
          </p:cNvCxnSpPr>
          <p:nvPr/>
        </p:nvCxnSpPr>
        <p:spPr>
          <a:xfrm>
            <a:off x="10945819" y="1796291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38" idx="2"/>
            <a:endCxn id="133" idx="0"/>
          </p:cNvCxnSpPr>
          <p:nvPr/>
        </p:nvCxnSpPr>
        <p:spPr>
          <a:xfrm>
            <a:off x="11451445" y="1796291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>
            <a:stCxn id="139" idx="2"/>
            <a:endCxn id="140" idx="0"/>
          </p:cNvCxnSpPr>
          <p:nvPr/>
        </p:nvCxnSpPr>
        <p:spPr>
          <a:xfrm>
            <a:off x="11905069" y="1796291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任意多边形 196"/>
          <p:cNvSpPr/>
          <p:nvPr/>
        </p:nvSpPr>
        <p:spPr>
          <a:xfrm>
            <a:off x="191847" y="801122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0" name="TextBox 199"/>
          <p:cNvSpPr txBox="1"/>
          <p:nvPr/>
        </p:nvSpPr>
        <p:spPr>
          <a:xfrm>
            <a:off x="410587" y="490943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01" name="直接连接符 200"/>
          <p:cNvCxnSpPr>
            <a:stCxn id="54" idx="3"/>
            <a:endCxn id="103" idx="1"/>
          </p:cNvCxnSpPr>
          <p:nvPr/>
        </p:nvCxnSpPr>
        <p:spPr>
          <a:xfrm>
            <a:off x="2357619" y="1613412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105" idx="3"/>
            <a:endCxn id="151" idx="1"/>
          </p:cNvCxnSpPr>
          <p:nvPr/>
        </p:nvCxnSpPr>
        <p:spPr>
          <a:xfrm>
            <a:off x="4143435" y="1613412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>
            <a:stCxn id="153" idx="3"/>
            <a:endCxn id="47" idx="1"/>
          </p:cNvCxnSpPr>
          <p:nvPr/>
        </p:nvCxnSpPr>
        <p:spPr>
          <a:xfrm>
            <a:off x="5931051" y="1613412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>
            <a:stCxn id="56" idx="3"/>
            <a:endCxn id="121" idx="1"/>
          </p:cNvCxnSpPr>
          <p:nvPr/>
        </p:nvCxnSpPr>
        <p:spPr>
          <a:xfrm>
            <a:off x="8125617" y="1613412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>
            <a:stCxn id="123" idx="3"/>
            <a:endCxn id="136" idx="1"/>
          </p:cNvCxnSpPr>
          <p:nvPr/>
        </p:nvCxnSpPr>
        <p:spPr>
          <a:xfrm>
            <a:off x="9931045" y="1613412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917999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第一小组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2931476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第二小组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4620420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第三小组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6580109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第四小组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8604341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第五小组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10531749" y="103242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第六小组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超女数据的组织</a:t>
            </a:r>
            <a:endParaRPr lang="en-US" altLang="zh-CN" sz="32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474998" y="3207629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432424" y="3207629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50300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1003924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477277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930901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45" name="圆角矩形 44"/>
          <p:cNvSpPr/>
          <p:nvPr/>
        </p:nvSpPr>
        <p:spPr>
          <a:xfrm>
            <a:off x="6242996" y="3220180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200422" y="322018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318298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771922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245275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698899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64" name="圆角矩形 63"/>
          <p:cNvSpPr/>
          <p:nvPr/>
        </p:nvSpPr>
        <p:spPr>
          <a:xfrm>
            <a:off x="3867304" y="1672859"/>
            <a:ext cx="3006857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910334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4837310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99904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cxnSp>
        <p:nvCxnSpPr>
          <p:cNvPr id="92" name="直接连接符 91"/>
          <p:cNvCxnSpPr>
            <a:stCxn id="66" idx="2"/>
            <a:endCxn id="49" idx="0"/>
          </p:cNvCxnSpPr>
          <p:nvPr/>
        </p:nvCxnSpPr>
        <p:spPr>
          <a:xfrm flipH="1">
            <a:off x="1432424" y="2063717"/>
            <a:ext cx="2691269" cy="114391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67" idx="2"/>
            <a:endCxn id="149" idx="0"/>
          </p:cNvCxnSpPr>
          <p:nvPr/>
        </p:nvCxnSpPr>
        <p:spPr>
          <a:xfrm>
            <a:off x="5050669" y="2063717"/>
            <a:ext cx="158717" cy="114751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692923" y="3220180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/>
          <p:nvPr/>
        </p:nvCxnSpPr>
        <p:spPr>
          <a:xfrm>
            <a:off x="3664752" y="3220180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768225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3221849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716717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cxnSp>
        <p:nvCxnSpPr>
          <p:cNvPr id="113" name="直接连接符 112"/>
          <p:cNvCxnSpPr>
            <a:stCxn id="148" idx="2"/>
            <a:endCxn id="101" idx="0"/>
          </p:cNvCxnSpPr>
          <p:nvPr/>
        </p:nvCxnSpPr>
        <p:spPr>
          <a:xfrm flipH="1">
            <a:off x="3438833" y="2063717"/>
            <a:ext cx="1151076" cy="1156463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491290" y="3220199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/>
          <p:nvPr/>
        </p:nvCxnSpPr>
        <p:spPr>
          <a:xfrm>
            <a:off x="9463118" y="319868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534319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987943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504327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cxnSp>
        <p:nvCxnSpPr>
          <p:cNvPr id="130" name="直接连接符 129"/>
          <p:cNvCxnSpPr>
            <a:stCxn id="68" idx="2"/>
            <a:endCxn id="45" idx="0"/>
          </p:cNvCxnSpPr>
          <p:nvPr/>
        </p:nvCxnSpPr>
        <p:spPr>
          <a:xfrm>
            <a:off x="5513263" y="2063717"/>
            <a:ext cx="1687159" cy="1156463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235807" y="322199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193233" y="322199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278836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732460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238086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691710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145" name="直接连接符 144"/>
          <p:cNvCxnSpPr>
            <a:stCxn id="125" idx="2"/>
            <a:endCxn id="119" idx="0"/>
          </p:cNvCxnSpPr>
          <p:nvPr/>
        </p:nvCxnSpPr>
        <p:spPr>
          <a:xfrm>
            <a:off x="5977711" y="2063717"/>
            <a:ext cx="3248731" cy="115648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4376550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469781" y="3211231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/>
          <p:nvPr/>
        </p:nvCxnSpPr>
        <p:spPr>
          <a:xfrm>
            <a:off x="5467578" y="321123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545083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998707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504333" y="324349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cxnSp>
        <p:nvCxnSpPr>
          <p:cNvPr id="164" name="直接连接符 163"/>
          <p:cNvCxnSpPr>
            <a:stCxn id="129" idx="2"/>
            <a:endCxn id="134" idx="0"/>
          </p:cNvCxnSpPr>
          <p:nvPr/>
        </p:nvCxnSpPr>
        <p:spPr>
          <a:xfrm>
            <a:off x="6443927" y="2063717"/>
            <a:ext cx="4749306" cy="1158276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62845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16469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489821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943445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4" name="直接箭头连接符 73"/>
          <p:cNvCxnSpPr>
            <a:stCxn id="51" idx="2"/>
            <a:endCxn id="69" idx="0"/>
          </p:cNvCxnSpPr>
          <p:nvPr/>
        </p:nvCxnSpPr>
        <p:spPr>
          <a:xfrm flipH="1">
            <a:off x="760143" y="3609255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52" idx="2"/>
            <a:endCxn id="70" idx="0"/>
          </p:cNvCxnSpPr>
          <p:nvPr/>
        </p:nvCxnSpPr>
        <p:spPr>
          <a:xfrm flipH="1">
            <a:off x="1213767" y="3609255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3" idx="2"/>
            <a:endCxn id="71" idx="0"/>
          </p:cNvCxnSpPr>
          <p:nvPr/>
        </p:nvCxnSpPr>
        <p:spPr>
          <a:xfrm flipH="1">
            <a:off x="1687119" y="3609255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54" idx="2"/>
            <a:endCxn id="72" idx="0"/>
          </p:cNvCxnSpPr>
          <p:nvPr/>
        </p:nvCxnSpPr>
        <p:spPr>
          <a:xfrm flipH="1">
            <a:off x="2140743" y="3609255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780725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234349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729217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8" name="直接箭头连接符 87"/>
          <p:cNvCxnSpPr>
            <a:stCxn id="103" idx="2"/>
            <a:endCxn id="84" idx="0"/>
          </p:cNvCxnSpPr>
          <p:nvPr/>
        </p:nvCxnSpPr>
        <p:spPr>
          <a:xfrm flipH="1">
            <a:off x="2978023" y="3609255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104" idx="2"/>
            <a:endCxn id="85" idx="0"/>
          </p:cNvCxnSpPr>
          <p:nvPr/>
        </p:nvCxnSpPr>
        <p:spPr>
          <a:xfrm flipH="1">
            <a:off x="3431647" y="3609255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105" idx="2"/>
            <a:endCxn id="86" idx="0"/>
          </p:cNvCxnSpPr>
          <p:nvPr/>
        </p:nvCxnSpPr>
        <p:spPr>
          <a:xfrm flipH="1">
            <a:off x="3926515" y="3609255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4566482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020106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525732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98" name="直接箭头连接符 97"/>
          <p:cNvCxnSpPr>
            <a:stCxn id="151" idx="2"/>
            <a:endCxn id="93" idx="0"/>
          </p:cNvCxnSpPr>
          <p:nvPr/>
        </p:nvCxnSpPr>
        <p:spPr>
          <a:xfrm>
            <a:off x="4758442" y="3609255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152" idx="2"/>
            <a:endCxn id="94" idx="0"/>
          </p:cNvCxnSpPr>
          <p:nvPr/>
        </p:nvCxnSpPr>
        <p:spPr>
          <a:xfrm>
            <a:off x="5212066" y="3609255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153" idx="2"/>
            <a:endCxn id="96" idx="0"/>
          </p:cNvCxnSpPr>
          <p:nvPr/>
        </p:nvCxnSpPr>
        <p:spPr>
          <a:xfrm>
            <a:off x="5717692" y="3609255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6330730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784354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257706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711330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1" name="直接箭头连接符 110"/>
          <p:cNvCxnSpPr>
            <a:stCxn id="47" idx="2"/>
            <a:endCxn id="107" idx="0"/>
          </p:cNvCxnSpPr>
          <p:nvPr/>
        </p:nvCxnSpPr>
        <p:spPr>
          <a:xfrm flipH="1">
            <a:off x="6528028" y="3609255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48" idx="2"/>
            <a:endCxn id="108" idx="0"/>
          </p:cNvCxnSpPr>
          <p:nvPr/>
        </p:nvCxnSpPr>
        <p:spPr>
          <a:xfrm flipH="1">
            <a:off x="6981652" y="3609255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55" idx="2"/>
            <a:endCxn id="109" idx="0"/>
          </p:cNvCxnSpPr>
          <p:nvPr/>
        </p:nvCxnSpPr>
        <p:spPr>
          <a:xfrm flipH="1">
            <a:off x="7455004" y="3609255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56" idx="2"/>
            <a:endCxn id="110" idx="0"/>
          </p:cNvCxnSpPr>
          <p:nvPr/>
        </p:nvCxnSpPr>
        <p:spPr>
          <a:xfrm flipH="1">
            <a:off x="7908628" y="3609255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8546812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011194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527578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6" name="直接箭头连接符 125"/>
          <p:cNvCxnSpPr>
            <a:stCxn id="121" idx="2"/>
            <a:endCxn id="116" idx="0"/>
          </p:cNvCxnSpPr>
          <p:nvPr/>
        </p:nvCxnSpPr>
        <p:spPr>
          <a:xfrm flipH="1">
            <a:off x="8744110" y="3609255"/>
            <a:ext cx="356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stCxn id="122" idx="2"/>
            <a:endCxn id="117" idx="0"/>
          </p:cNvCxnSpPr>
          <p:nvPr/>
        </p:nvCxnSpPr>
        <p:spPr>
          <a:xfrm>
            <a:off x="9201302" y="3609255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23" idx="2"/>
            <a:endCxn id="124" idx="0"/>
          </p:cNvCxnSpPr>
          <p:nvPr/>
        </p:nvCxnSpPr>
        <p:spPr>
          <a:xfrm>
            <a:off x="9717686" y="3609255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10300301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753925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1259551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1713175" y="3975022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1" name="直接箭头连接符 140"/>
          <p:cNvCxnSpPr>
            <a:stCxn id="136" idx="2"/>
            <a:endCxn id="131" idx="0"/>
          </p:cNvCxnSpPr>
          <p:nvPr/>
        </p:nvCxnSpPr>
        <p:spPr>
          <a:xfrm>
            <a:off x="10492195" y="3609255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>
            <a:stCxn id="137" idx="2"/>
            <a:endCxn id="132" idx="0"/>
          </p:cNvCxnSpPr>
          <p:nvPr/>
        </p:nvCxnSpPr>
        <p:spPr>
          <a:xfrm>
            <a:off x="10945819" y="3609255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38" idx="2"/>
            <a:endCxn id="133" idx="0"/>
          </p:cNvCxnSpPr>
          <p:nvPr/>
        </p:nvCxnSpPr>
        <p:spPr>
          <a:xfrm>
            <a:off x="11451445" y="3609255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>
            <a:stCxn id="139" idx="2"/>
            <a:endCxn id="140" idx="0"/>
          </p:cNvCxnSpPr>
          <p:nvPr/>
        </p:nvCxnSpPr>
        <p:spPr>
          <a:xfrm>
            <a:off x="11905069" y="3609255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任意多边形 196"/>
          <p:cNvSpPr/>
          <p:nvPr/>
        </p:nvSpPr>
        <p:spPr>
          <a:xfrm>
            <a:off x="191847" y="2614086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0" name="TextBox 199"/>
          <p:cNvSpPr txBox="1"/>
          <p:nvPr/>
        </p:nvSpPr>
        <p:spPr>
          <a:xfrm>
            <a:off x="410587" y="2303907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01" name="直接连接符 200"/>
          <p:cNvCxnSpPr>
            <a:stCxn id="54" idx="3"/>
            <a:endCxn id="103" idx="1"/>
          </p:cNvCxnSpPr>
          <p:nvPr/>
        </p:nvCxnSpPr>
        <p:spPr>
          <a:xfrm>
            <a:off x="2357619" y="3426376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105" idx="3"/>
            <a:endCxn id="151" idx="1"/>
          </p:cNvCxnSpPr>
          <p:nvPr/>
        </p:nvCxnSpPr>
        <p:spPr>
          <a:xfrm>
            <a:off x="4143435" y="3426376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>
            <a:stCxn id="153" idx="3"/>
            <a:endCxn id="47" idx="1"/>
          </p:cNvCxnSpPr>
          <p:nvPr/>
        </p:nvCxnSpPr>
        <p:spPr>
          <a:xfrm>
            <a:off x="5931051" y="3426376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>
            <a:stCxn id="56" idx="3"/>
            <a:endCxn id="121" idx="1"/>
          </p:cNvCxnSpPr>
          <p:nvPr/>
        </p:nvCxnSpPr>
        <p:spPr>
          <a:xfrm>
            <a:off x="8125617" y="3426376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>
            <a:stCxn id="123" idx="3"/>
            <a:endCxn id="136" idx="1"/>
          </p:cNvCxnSpPr>
          <p:nvPr/>
        </p:nvCxnSpPr>
        <p:spPr>
          <a:xfrm>
            <a:off x="9931045" y="3426376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764352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129" name="矩形 128"/>
          <p:cNvSpPr/>
          <p:nvPr/>
        </p:nvSpPr>
        <p:spPr>
          <a:xfrm>
            <a:off x="6230568" y="169795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155" name="TextBox 154"/>
          <p:cNvSpPr txBox="1"/>
          <p:nvPr/>
        </p:nvSpPr>
        <p:spPr>
          <a:xfrm>
            <a:off x="917999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第一小组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931476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第二小组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620420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第三小组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6580109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第四小组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8604341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第五小组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0531749" y="2775220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第六小组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507455" y="1270942"/>
            <a:ext cx="187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超女小组索引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超女数据的组织</a:t>
            </a:r>
            <a:endParaRPr lang="en-US" altLang="zh-CN" sz="32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474998" y="389614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>
            <a:stCxn id="49" idx="0"/>
            <a:endCxn id="49" idx="2"/>
          </p:cNvCxnSpPr>
          <p:nvPr/>
        </p:nvCxnSpPr>
        <p:spPr>
          <a:xfrm>
            <a:off x="1432424" y="389614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5030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1003924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53" name="矩形 52"/>
          <p:cNvSpPr/>
          <p:nvPr/>
        </p:nvSpPr>
        <p:spPr>
          <a:xfrm>
            <a:off x="147727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54" name="矩形 53"/>
          <p:cNvSpPr/>
          <p:nvPr/>
        </p:nvSpPr>
        <p:spPr>
          <a:xfrm>
            <a:off x="1930901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45" name="圆角矩形 44"/>
          <p:cNvSpPr/>
          <p:nvPr/>
        </p:nvSpPr>
        <p:spPr>
          <a:xfrm>
            <a:off x="6242996" y="3908692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>
            <a:stCxn id="45" idx="0"/>
            <a:endCxn id="45" idx="2"/>
          </p:cNvCxnSpPr>
          <p:nvPr/>
        </p:nvCxnSpPr>
        <p:spPr>
          <a:xfrm>
            <a:off x="7200422" y="390869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318298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6771922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55" name="矩形 54"/>
          <p:cNvSpPr/>
          <p:nvPr/>
        </p:nvSpPr>
        <p:spPr>
          <a:xfrm>
            <a:off x="7245275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769889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64" name="圆角矩形 63"/>
          <p:cNvSpPr/>
          <p:nvPr/>
        </p:nvSpPr>
        <p:spPr>
          <a:xfrm>
            <a:off x="3081971" y="275941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>
            <a:stCxn id="64" idx="0"/>
            <a:endCxn id="64" idx="2"/>
          </p:cNvCxnSpPr>
          <p:nvPr/>
        </p:nvCxnSpPr>
        <p:spPr>
          <a:xfrm>
            <a:off x="4039397" y="275941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3125000" y="279168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4084250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4525328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cxnSp>
        <p:nvCxnSpPr>
          <p:cNvPr id="92" name="直接连接符 91"/>
          <p:cNvCxnSpPr>
            <a:stCxn id="66" idx="2"/>
            <a:endCxn id="49" idx="0"/>
          </p:cNvCxnSpPr>
          <p:nvPr/>
        </p:nvCxnSpPr>
        <p:spPr>
          <a:xfrm flipH="1">
            <a:off x="1432424" y="3157443"/>
            <a:ext cx="1905935" cy="73869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67" idx="2"/>
          </p:cNvCxnSpPr>
          <p:nvPr/>
        </p:nvCxnSpPr>
        <p:spPr>
          <a:xfrm>
            <a:off x="4297609" y="3159231"/>
            <a:ext cx="435743" cy="767325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圆角矩形 100"/>
          <p:cNvSpPr/>
          <p:nvPr/>
        </p:nvSpPr>
        <p:spPr>
          <a:xfrm>
            <a:off x="2692923" y="3908692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/>
          <p:cNvCxnSpPr/>
          <p:nvPr/>
        </p:nvCxnSpPr>
        <p:spPr>
          <a:xfrm>
            <a:off x="3664752" y="390869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768225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322184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05" name="矩形 104"/>
          <p:cNvSpPr/>
          <p:nvPr/>
        </p:nvSpPr>
        <p:spPr>
          <a:xfrm>
            <a:off x="371671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cxnSp>
        <p:nvCxnSpPr>
          <p:cNvPr id="113" name="直接连接符 112"/>
          <p:cNvCxnSpPr>
            <a:stCxn id="148" idx="2"/>
            <a:endCxn id="101" idx="0"/>
          </p:cNvCxnSpPr>
          <p:nvPr/>
        </p:nvCxnSpPr>
        <p:spPr>
          <a:xfrm flipH="1">
            <a:off x="3438833" y="3150275"/>
            <a:ext cx="344226" cy="75841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8491290" y="3908711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/>
          <p:cNvCxnSpPr/>
          <p:nvPr/>
        </p:nvCxnSpPr>
        <p:spPr>
          <a:xfrm>
            <a:off x="9463118" y="388719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853431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22" name="矩形 121"/>
          <p:cNvSpPr/>
          <p:nvPr/>
        </p:nvSpPr>
        <p:spPr>
          <a:xfrm>
            <a:off x="898794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23" name="矩形 122"/>
          <p:cNvSpPr/>
          <p:nvPr/>
        </p:nvSpPr>
        <p:spPr>
          <a:xfrm>
            <a:off x="950432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cxnSp>
        <p:nvCxnSpPr>
          <p:cNvPr id="130" name="直接连接符 129"/>
          <p:cNvCxnSpPr>
            <a:stCxn id="68" idx="2"/>
            <a:endCxn id="45" idx="0"/>
          </p:cNvCxnSpPr>
          <p:nvPr/>
        </p:nvCxnSpPr>
        <p:spPr>
          <a:xfrm>
            <a:off x="4738687" y="3159231"/>
            <a:ext cx="2461735" cy="74946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10235807" y="39105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>
            <a:stCxn id="134" idx="0"/>
            <a:endCxn id="134" idx="2"/>
          </p:cNvCxnSpPr>
          <p:nvPr/>
        </p:nvCxnSpPr>
        <p:spPr>
          <a:xfrm>
            <a:off x="11193233" y="39105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0278836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37" name="矩形 136"/>
          <p:cNvSpPr/>
          <p:nvPr/>
        </p:nvSpPr>
        <p:spPr>
          <a:xfrm>
            <a:off x="1073246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38" name="矩形 137"/>
          <p:cNvSpPr/>
          <p:nvPr/>
        </p:nvSpPr>
        <p:spPr>
          <a:xfrm>
            <a:off x="11238086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139" name="矩形 138"/>
          <p:cNvSpPr/>
          <p:nvPr/>
        </p:nvSpPr>
        <p:spPr>
          <a:xfrm>
            <a:off x="1169171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145" name="直接连接符 144"/>
          <p:cNvCxnSpPr>
            <a:stCxn id="182" idx="2"/>
            <a:endCxn id="119" idx="0"/>
          </p:cNvCxnSpPr>
          <p:nvPr/>
        </p:nvCxnSpPr>
        <p:spPr>
          <a:xfrm flipH="1">
            <a:off x="9226442" y="3126964"/>
            <a:ext cx="428565" cy="78174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3569700" y="2784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149" name="圆角矩形 148"/>
          <p:cNvSpPr/>
          <p:nvPr/>
        </p:nvSpPr>
        <p:spPr>
          <a:xfrm>
            <a:off x="4469781" y="3899743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连接符 149"/>
          <p:cNvCxnSpPr/>
          <p:nvPr/>
        </p:nvCxnSpPr>
        <p:spPr>
          <a:xfrm>
            <a:off x="5467578" y="389974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54508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152" name="矩形 151"/>
          <p:cNvSpPr/>
          <p:nvPr/>
        </p:nvSpPr>
        <p:spPr>
          <a:xfrm>
            <a:off x="499870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153" name="矩形 152"/>
          <p:cNvSpPr/>
          <p:nvPr/>
        </p:nvSpPr>
        <p:spPr>
          <a:xfrm>
            <a:off x="550433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cxnSp>
        <p:nvCxnSpPr>
          <p:cNvPr id="164" name="直接连接符 163"/>
          <p:cNvCxnSpPr>
            <a:stCxn id="191" idx="2"/>
            <a:endCxn id="134" idx="0"/>
          </p:cNvCxnSpPr>
          <p:nvPr/>
        </p:nvCxnSpPr>
        <p:spPr>
          <a:xfrm>
            <a:off x="10099707" y="3119796"/>
            <a:ext cx="1093526" cy="790709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/>
        </p:nvSpPr>
        <p:spPr>
          <a:xfrm>
            <a:off x="6052967" y="174995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67" idx="0"/>
            <a:endCxn id="167" idx="2"/>
          </p:cNvCxnSpPr>
          <p:nvPr/>
        </p:nvCxnSpPr>
        <p:spPr>
          <a:xfrm>
            <a:off x="7010393" y="174995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6095996" y="178222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170" name="矩形 169"/>
          <p:cNvSpPr/>
          <p:nvPr/>
        </p:nvSpPr>
        <p:spPr>
          <a:xfrm>
            <a:off x="7055246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1" name="矩形 170"/>
          <p:cNvSpPr/>
          <p:nvPr/>
        </p:nvSpPr>
        <p:spPr>
          <a:xfrm>
            <a:off x="7496324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8" name="矩形 177"/>
          <p:cNvSpPr/>
          <p:nvPr/>
        </p:nvSpPr>
        <p:spPr>
          <a:xfrm>
            <a:off x="6540696" y="177505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180" name="圆角矩形 179"/>
          <p:cNvSpPr/>
          <p:nvPr/>
        </p:nvSpPr>
        <p:spPr>
          <a:xfrm>
            <a:off x="9398619" y="27289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/>
          <p:cNvCxnSpPr>
            <a:stCxn id="180" idx="0"/>
            <a:endCxn id="180" idx="2"/>
          </p:cNvCxnSpPr>
          <p:nvPr/>
        </p:nvCxnSpPr>
        <p:spPr>
          <a:xfrm>
            <a:off x="10356045" y="27289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9441648" y="27612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183" name="矩形 182"/>
          <p:cNvSpPr/>
          <p:nvPr/>
        </p:nvSpPr>
        <p:spPr>
          <a:xfrm>
            <a:off x="10400898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4" name="矩形 183"/>
          <p:cNvSpPr/>
          <p:nvPr/>
        </p:nvSpPr>
        <p:spPr>
          <a:xfrm>
            <a:off x="10841976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91" name="矩形 190"/>
          <p:cNvSpPr/>
          <p:nvPr/>
        </p:nvSpPr>
        <p:spPr>
          <a:xfrm>
            <a:off x="9886348" y="275403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193" name="直接连接符 192"/>
          <p:cNvCxnSpPr>
            <a:stCxn id="169" idx="2"/>
            <a:endCxn id="64" idx="0"/>
          </p:cNvCxnSpPr>
          <p:nvPr/>
        </p:nvCxnSpPr>
        <p:spPr>
          <a:xfrm flipH="1">
            <a:off x="4039397" y="2147979"/>
            <a:ext cx="2269958" cy="61143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78" idx="2"/>
            <a:endCxn id="180" idx="0"/>
          </p:cNvCxnSpPr>
          <p:nvPr/>
        </p:nvCxnSpPr>
        <p:spPr>
          <a:xfrm>
            <a:off x="6754055" y="2140811"/>
            <a:ext cx="3601990" cy="58812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6284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16469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48982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94344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4" name="直接箭头连接符 73"/>
          <p:cNvCxnSpPr>
            <a:stCxn id="51" idx="2"/>
            <a:endCxn id="69" idx="0"/>
          </p:cNvCxnSpPr>
          <p:nvPr/>
        </p:nvCxnSpPr>
        <p:spPr>
          <a:xfrm flipH="1">
            <a:off x="760143" y="429776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52" idx="2"/>
            <a:endCxn id="70" idx="0"/>
          </p:cNvCxnSpPr>
          <p:nvPr/>
        </p:nvCxnSpPr>
        <p:spPr>
          <a:xfrm flipH="1">
            <a:off x="1213767" y="429776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3" idx="2"/>
            <a:endCxn id="71" idx="0"/>
          </p:cNvCxnSpPr>
          <p:nvPr/>
        </p:nvCxnSpPr>
        <p:spPr>
          <a:xfrm flipH="1">
            <a:off x="1687119" y="429776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54" idx="2"/>
            <a:endCxn id="72" idx="0"/>
          </p:cNvCxnSpPr>
          <p:nvPr/>
        </p:nvCxnSpPr>
        <p:spPr>
          <a:xfrm flipH="1">
            <a:off x="2140743" y="429776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78072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234349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729217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8" name="直接箭头连接符 87"/>
          <p:cNvCxnSpPr>
            <a:stCxn id="103" idx="2"/>
            <a:endCxn id="84" idx="0"/>
          </p:cNvCxnSpPr>
          <p:nvPr/>
        </p:nvCxnSpPr>
        <p:spPr>
          <a:xfrm flipH="1">
            <a:off x="2978023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104" idx="2"/>
            <a:endCxn id="85" idx="0"/>
          </p:cNvCxnSpPr>
          <p:nvPr/>
        </p:nvCxnSpPr>
        <p:spPr>
          <a:xfrm flipH="1">
            <a:off x="3431647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105" idx="2"/>
            <a:endCxn id="86" idx="0"/>
          </p:cNvCxnSpPr>
          <p:nvPr/>
        </p:nvCxnSpPr>
        <p:spPr>
          <a:xfrm flipH="1">
            <a:off x="3926515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456648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020106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52573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98" name="直接箭头连接符 97"/>
          <p:cNvCxnSpPr>
            <a:stCxn id="151" idx="2"/>
            <a:endCxn id="93" idx="0"/>
          </p:cNvCxnSpPr>
          <p:nvPr/>
        </p:nvCxnSpPr>
        <p:spPr>
          <a:xfrm>
            <a:off x="4758442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152" idx="2"/>
            <a:endCxn id="94" idx="0"/>
          </p:cNvCxnSpPr>
          <p:nvPr/>
        </p:nvCxnSpPr>
        <p:spPr>
          <a:xfrm>
            <a:off x="5212066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153" idx="2"/>
            <a:endCxn id="96" idx="0"/>
          </p:cNvCxnSpPr>
          <p:nvPr/>
        </p:nvCxnSpPr>
        <p:spPr>
          <a:xfrm>
            <a:off x="5717692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6330730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784354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257706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711330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1" name="直接箭头连接符 110"/>
          <p:cNvCxnSpPr>
            <a:stCxn id="47" idx="2"/>
            <a:endCxn id="107" idx="0"/>
          </p:cNvCxnSpPr>
          <p:nvPr/>
        </p:nvCxnSpPr>
        <p:spPr>
          <a:xfrm flipH="1">
            <a:off x="6528028" y="429776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48" idx="2"/>
            <a:endCxn id="108" idx="0"/>
          </p:cNvCxnSpPr>
          <p:nvPr/>
        </p:nvCxnSpPr>
        <p:spPr>
          <a:xfrm flipH="1">
            <a:off x="6981652" y="429776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55" idx="2"/>
            <a:endCxn id="109" idx="0"/>
          </p:cNvCxnSpPr>
          <p:nvPr/>
        </p:nvCxnSpPr>
        <p:spPr>
          <a:xfrm flipH="1">
            <a:off x="7455004" y="429776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56" idx="2"/>
            <a:endCxn id="110" idx="0"/>
          </p:cNvCxnSpPr>
          <p:nvPr/>
        </p:nvCxnSpPr>
        <p:spPr>
          <a:xfrm flipH="1">
            <a:off x="7908628" y="429776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854681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011194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527578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6" name="直接箭头连接符 125"/>
          <p:cNvCxnSpPr>
            <a:stCxn id="121" idx="2"/>
            <a:endCxn id="116" idx="0"/>
          </p:cNvCxnSpPr>
          <p:nvPr/>
        </p:nvCxnSpPr>
        <p:spPr>
          <a:xfrm flipH="1">
            <a:off x="8744110" y="4297767"/>
            <a:ext cx="356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stCxn id="122" idx="2"/>
            <a:endCxn id="117" idx="0"/>
          </p:cNvCxnSpPr>
          <p:nvPr/>
        </p:nvCxnSpPr>
        <p:spPr>
          <a:xfrm>
            <a:off x="9201302" y="429776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23" idx="2"/>
            <a:endCxn id="124" idx="0"/>
          </p:cNvCxnSpPr>
          <p:nvPr/>
        </p:nvCxnSpPr>
        <p:spPr>
          <a:xfrm>
            <a:off x="9717686" y="429776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1030030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75392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125955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171317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1" name="直接箭头连接符 140"/>
          <p:cNvCxnSpPr>
            <a:stCxn id="136" idx="2"/>
            <a:endCxn id="131" idx="0"/>
          </p:cNvCxnSpPr>
          <p:nvPr/>
        </p:nvCxnSpPr>
        <p:spPr>
          <a:xfrm>
            <a:off x="10492195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>
            <a:stCxn id="137" idx="2"/>
            <a:endCxn id="132" idx="0"/>
          </p:cNvCxnSpPr>
          <p:nvPr/>
        </p:nvCxnSpPr>
        <p:spPr>
          <a:xfrm>
            <a:off x="10945819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38" idx="2"/>
            <a:endCxn id="133" idx="0"/>
          </p:cNvCxnSpPr>
          <p:nvPr/>
        </p:nvCxnSpPr>
        <p:spPr>
          <a:xfrm>
            <a:off x="11451445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>
            <a:stCxn id="139" idx="2"/>
            <a:endCxn id="140" idx="0"/>
          </p:cNvCxnSpPr>
          <p:nvPr/>
        </p:nvCxnSpPr>
        <p:spPr>
          <a:xfrm>
            <a:off x="11905069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任意多边形 194"/>
          <p:cNvSpPr/>
          <p:nvPr/>
        </p:nvSpPr>
        <p:spPr>
          <a:xfrm>
            <a:off x="6056560" y="1366223"/>
            <a:ext cx="1043492" cy="451821"/>
          </a:xfrm>
          <a:custGeom>
            <a:avLst/>
            <a:gdLst>
              <a:gd name="connsiteX0" fmla="*/ 0 w 1111623"/>
              <a:gd name="connsiteY0" fmla="*/ 0 h 498437"/>
              <a:gd name="connsiteX1" fmla="*/ 387275 w 1111623"/>
              <a:gd name="connsiteY1" fmla="*/ 193638 h 498437"/>
              <a:gd name="connsiteX2" fmla="*/ 688489 w 1111623"/>
              <a:gd name="connsiteY2" fmla="*/ 96819 h 498437"/>
              <a:gd name="connsiteX3" fmla="*/ 1054249 w 1111623"/>
              <a:gd name="connsiteY3" fmla="*/ 441063 h 498437"/>
              <a:gd name="connsiteX4" fmla="*/ 1032734 w 1111623"/>
              <a:gd name="connsiteY4" fmla="*/ 441063 h 498437"/>
              <a:gd name="connsiteX5" fmla="*/ 1032734 w 1111623"/>
              <a:gd name="connsiteY5" fmla="*/ 441063 h 49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1623" h="498437">
                <a:moveTo>
                  <a:pt x="0" y="0"/>
                </a:moveTo>
                <a:cubicBezTo>
                  <a:pt x="136263" y="88751"/>
                  <a:pt x="272527" y="177502"/>
                  <a:pt x="387275" y="193638"/>
                </a:cubicBezTo>
                <a:cubicBezTo>
                  <a:pt x="502023" y="209775"/>
                  <a:pt x="577327" y="55582"/>
                  <a:pt x="688489" y="96819"/>
                </a:cubicBezTo>
                <a:cubicBezTo>
                  <a:pt x="799651" y="138056"/>
                  <a:pt x="996875" y="383689"/>
                  <a:pt x="1054249" y="441063"/>
                </a:cubicBezTo>
                <a:cubicBezTo>
                  <a:pt x="1111623" y="498437"/>
                  <a:pt x="1032734" y="441063"/>
                  <a:pt x="1032734" y="441063"/>
                </a:cubicBezTo>
                <a:lnTo>
                  <a:pt x="1032734" y="441063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任意多边形 196"/>
          <p:cNvSpPr/>
          <p:nvPr/>
        </p:nvSpPr>
        <p:spPr>
          <a:xfrm>
            <a:off x="191847" y="3302598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8" name="TextBox 197"/>
          <p:cNvSpPr txBox="1"/>
          <p:nvPr/>
        </p:nvSpPr>
        <p:spPr>
          <a:xfrm>
            <a:off x="5540192" y="1161826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root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410587" y="2992419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01" name="直接连接符 200"/>
          <p:cNvCxnSpPr>
            <a:stCxn id="54" idx="3"/>
            <a:endCxn id="103" idx="1"/>
          </p:cNvCxnSpPr>
          <p:nvPr/>
        </p:nvCxnSpPr>
        <p:spPr>
          <a:xfrm>
            <a:off x="2357619" y="4114888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105" idx="3"/>
            <a:endCxn id="151" idx="1"/>
          </p:cNvCxnSpPr>
          <p:nvPr/>
        </p:nvCxnSpPr>
        <p:spPr>
          <a:xfrm>
            <a:off x="4143435" y="4114888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>
            <a:stCxn id="153" idx="3"/>
            <a:endCxn id="47" idx="1"/>
          </p:cNvCxnSpPr>
          <p:nvPr/>
        </p:nvCxnSpPr>
        <p:spPr>
          <a:xfrm>
            <a:off x="5931051" y="4114888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>
            <a:stCxn id="56" idx="3"/>
            <a:endCxn id="121" idx="1"/>
          </p:cNvCxnSpPr>
          <p:nvPr/>
        </p:nvCxnSpPr>
        <p:spPr>
          <a:xfrm>
            <a:off x="8125617" y="4114888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>
            <a:stCxn id="123" idx="3"/>
            <a:endCxn id="136" idx="1"/>
          </p:cNvCxnSpPr>
          <p:nvPr/>
        </p:nvCxnSpPr>
        <p:spPr>
          <a:xfrm>
            <a:off x="9931045" y="4114888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17999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第一小组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2931476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第二小组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4620420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第三小组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580109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第四小组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8604341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第五小组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0531749" y="3485248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第六小组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3449648" y="2421994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北京赛区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626339" y="2305453"/>
            <a:ext cx="129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长沙赛区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6723581" y="1349808"/>
            <a:ext cx="75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全国</a:t>
            </a:r>
            <a:endParaRPr lang="zh-CN" altLang="en-US" dirty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474998" y="389614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/>
          <p:cNvCxnSpPr>
            <a:stCxn id="118" idx="0"/>
            <a:endCxn id="118" idx="2"/>
          </p:cNvCxnSpPr>
          <p:nvPr/>
        </p:nvCxnSpPr>
        <p:spPr>
          <a:xfrm>
            <a:off x="1432424" y="389614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55030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146" name="矩形 145"/>
          <p:cNvSpPr/>
          <p:nvPr/>
        </p:nvSpPr>
        <p:spPr>
          <a:xfrm>
            <a:off x="1003924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147" name="矩形 146"/>
          <p:cNvSpPr/>
          <p:nvPr/>
        </p:nvSpPr>
        <p:spPr>
          <a:xfrm>
            <a:off x="147727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1930901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55" name="圆角矩形 154"/>
          <p:cNvSpPr/>
          <p:nvPr/>
        </p:nvSpPr>
        <p:spPr>
          <a:xfrm>
            <a:off x="6242996" y="3908692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连接符 155"/>
          <p:cNvCxnSpPr>
            <a:stCxn id="155" idx="0"/>
            <a:endCxn id="155" idx="2"/>
          </p:cNvCxnSpPr>
          <p:nvPr/>
        </p:nvCxnSpPr>
        <p:spPr>
          <a:xfrm>
            <a:off x="7200422" y="390869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/>
          <p:cNvSpPr/>
          <p:nvPr/>
        </p:nvSpPr>
        <p:spPr>
          <a:xfrm>
            <a:off x="6318298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158" name="矩形 157"/>
          <p:cNvSpPr/>
          <p:nvPr/>
        </p:nvSpPr>
        <p:spPr>
          <a:xfrm>
            <a:off x="6771922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159" name="矩形 158"/>
          <p:cNvSpPr/>
          <p:nvPr/>
        </p:nvSpPr>
        <p:spPr>
          <a:xfrm>
            <a:off x="7245275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160" name="矩形 159"/>
          <p:cNvSpPr/>
          <p:nvPr/>
        </p:nvSpPr>
        <p:spPr>
          <a:xfrm>
            <a:off x="769889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161" name="圆角矩形 160"/>
          <p:cNvSpPr/>
          <p:nvPr/>
        </p:nvSpPr>
        <p:spPr>
          <a:xfrm>
            <a:off x="3081971" y="275941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/>
          <p:cNvCxnSpPr>
            <a:stCxn id="161" idx="0"/>
            <a:endCxn id="161" idx="2"/>
          </p:cNvCxnSpPr>
          <p:nvPr/>
        </p:nvCxnSpPr>
        <p:spPr>
          <a:xfrm>
            <a:off x="4039397" y="275941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矩形 162"/>
          <p:cNvSpPr/>
          <p:nvPr/>
        </p:nvSpPr>
        <p:spPr>
          <a:xfrm>
            <a:off x="3125000" y="279168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65" name="矩形 164"/>
          <p:cNvSpPr/>
          <p:nvPr/>
        </p:nvSpPr>
        <p:spPr>
          <a:xfrm>
            <a:off x="4084250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166" name="矩形 165"/>
          <p:cNvSpPr/>
          <p:nvPr/>
        </p:nvSpPr>
        <p:spPr>
          <a:xfrm>
            <a:off x="4525328" y="2793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cxnSp>
        <p:nvCxnSpPr>
          <p:cNvPr id="172" name="直接连接符 171"/>
          <p:cNvCxnSpPr>
            <a:stCxn id="163" idx="2"/>
            <a:endCxn id="118" idx="0"/>
          </p:cNvCxnSpPr>
          <p:nvPr/>
        </p:nvCxnSpPr>
        <p:spPr>
          <a:xfrm flipH="1">
            <a:off x="1432424" y="3157443"/>
            <a:ext cx="1905935" cy="73869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5" idx="2"/>
          </p:cNvCxnSpPr>
          <p:nvPr/>
        </p:nvCxnSpPr>
        <p:spPr>
          <a:xfrm>
            <a:off x="4297609" y="3159231"/>
            <a:ext cx="435743" cy="767325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/>
          <p:cNvSpPr/>
          <p:nvPr/>
        </p:nvSpPr>
        <p:spPr>
          <a:xfrm>
            <a:off x="2692923" y="3908692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连接符 174"/>
          <p:cNvCxnSpPr/>
          <p:nvPr/>
        </p:nvCxnSpPr>
        <p:spPr>
          <a:xfrm>
            <a:off x="3664752" y="390869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2768225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77" name="矩形 176"/>
          <p:cNvSpPr/>
          <p:nvPr/>
        </p:nvSpPr>
        <p:spPr>
          <a:xfrm>
            <a:off x="322184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79" name="矩形 178"/>
          <p:cNvSpPr/>
          <p:nvPr/>
        </p:nvSpPr>
        <p:spPr>
          <a:xfrm>
            <a:off x="371671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cxnSp>
        <p:nvCxnSpPr>
          <p:cNvPr id="185" name="直接连接符 184"/>
          <p:cNvCxnSpPr>
            <a:stCxn id="202" idx="2"/>
            <a:endCxn id="174" idx="0"/>
          </p:cNvCxnSpPr>
          <p:nvPr/>
        </p:nvCxnSpPr>
        <p:spPr>
          <a:xfrm flipH="1">
            <a:off x="3438833" y="3150275"/>
            <a:ext cx="344226" cy="75841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圆角矩形 185"/>
          <p:cNvSpPr/>
          <p:nvPr/>
        </p:nvSpPr>
        <p:spPr>
          <a:xfrm>
            <a:off x="8491290" y="3908711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7" name="直接连接符 186"/>
          <p:cNvCxnSpPr/>
          <p:nvPr/>
        </p:nvCxnSpPr>
        <p:spPr>
          <a:xfrm>
            <a:off x="9463118" y="388719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/>
          <p:cNvSpPr/>
          <p:nvPr/>
        </p:nvSpPr>
        <p:spPr>
          <a:xfrm>
            <a:off x="8534319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89" name="矩形 188"/>
          <p:cNvSpPr/>
          <p:nvPr/>
        </p:nvSpPr>
        <p:spPr>
          <a:xfrm>
            <a:off x="898794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90" name="矩形 189"/>
          <p:cNvSpPr/>
          <p:nvPr/>
        </p:nvSpPr>
        <p:spPr>
          <a:xfrm>
            <a:off x="950432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cxnSp>
        <p:nvCxnSpPr>
          <p:cNvPr id="192" name="直接连接符 191"/>
          <p:cNvCxnSpPr>
            <a:stCxn id="166" idx="2"/>
            <a:endCxn id="155" idx="0"/>
          </p:cNvCxnSpPr>
          <p:nvPr/>
        </p:nvCxnSpPr>
        <p:spPr>
          <a:xfrm>
            <a:off x="4738687" y="3159231"/>
            <a:ext cx="2461735" cy="74946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圆角矩形 193"/>
          <p:cNvSpPr/>
          <p:nvPr/>
        </p:nvSpPr>
        <p:spPr>
          <a:xfrm>
            <a:off x="10235807" y="391050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5" name="直接连接符 194"/>
          <p:cNvCxnSpPr>
            <a:stCxn id="194" idx="0"/>
            <a:endCxn id="194" idx="2"/>
          </p:cNvCxnSpPr>
          <p:nvPr/>
        </p:nvCxnSpPr>
        <p:spPr>
          <a:xfrm>
            <a:off x="11193233" y="391050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/>
        </p:nvSpPr>
        <p:spPr>
          <a:xfrm>
            <a:off x="10278836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97" name="矩形 196"/>
          <p:cNvSpPr/>
          <p:nvPr/>
        </p:nvSpPr>
        <p:spPr>
          <a:xfrm>
            <a:off x="1073246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98" name="矩形 197"/>
          <p:cNvSpPr/>
          <p:nvPr/>
        </p:nvSpPr>
        <p:spPr>
          <a:xfrm>
            <a:off x="11238086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200" name="矩形 199"/>
          <p:cNvSpPr/>
          <p:nvPr/>
        </p:nvSpPr>
        <p:spPr>
          <a:xfrm>
            <a:off x="11691710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01" name="直接连接符 200"/>
          <p:cNvCxnSpPr>
            <a:stCxn id="217" idx="2"/>
            <a:endCxn id="186" idx="0"/>
          </p:cNvCxnSpPr>
          <p:nvPr/>
        </p:nvCxnSpPr>
        <p:spPr>
          <a:xfrm flipH="1">
            <a:off x="9226442" y="3126964"/>
            <a:ext cx="428565" cy="78174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 201"/>
          <p:cNvSpPr/>
          <p:nvPr/>
        </p:nvSpPr>
        <p:spPr>
          <a:xfrm>
            <a:off x="3569700" y="278451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203" name="圆角矩形 202"/>
          <p:cNvSpPr/>
          <p:nvPr/>
        </p:nvSpPr>
        <p:spPr>
          <a:xfrm>
            <a:off x="4469781" y="3899743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4" name="直接连接符 203"/>
          <p:cNvCxnSpPr/>
          <p:nvPr/>
        </p:nvCxnSpPr>
        <p:spPr>
          <a:xfrm>
            <a:off x="5467578" y="389974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/>
          <p:cNvSpPr/>
          <p:nvPr/>
        </p:nvSpPr>
        <p:spPr>
          <a:xfrm>
            <a:off x="454508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206" name="矩形 205"/>
          <p:cNvSpPr/>
          <p:nvPr/>
        </p:nvSpPr>
        <p:spPr>
          <a:xfrm>
            <a:off x="4998707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207" name="矩形 206"/>
          <p:cNvSpPr/>
          <p:nvPr/>
        </p:nvSpPr>
        <p:spPr>
          <a:xfrm>
            <a:off x="5504333" y="3932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cxnSp>
        <p:nvCxnSpPr>
          <p:cNvPr id="208" name="直接连接符 207"/>
          <p:cNvCxnSpPr>
            <a:stCxn id="220" idx="2"/>
            <a:endCxn id="194" idx="0"/>
          </p:cNvCxnSpPr>
          <p:nvPr/>
        </p:nvCxnSpPr>
        <p:spPr>
          <a:xfrm>
            <a:off x="10099707" y="3119796"/>
            <a:ext cx="1093526" cy="790709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圆角矩形 208"/>
          <p:cNvSpPr/>
          <p:nvPr/>
        </p:nvSpPr>
        <p:spPr>
          <a:xfrm>
            <a:off x="6052967" y="174995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0" name="直接连接符 209"/>
          <p:cNvCxnSpPr>
            <a:stCxn id="209" idx="0"/>
            <a:endCxn id="209" idx="2"/>
          </p:cNvCxnSpPr>
          <p:nvPr/>
        </p:nvCxnSpPr>
        <p:spPr>
          <a:xfrm>
            <a:off x="7010393" y="174995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矩形 210"/>
          <p:cNvSpPr/>
          <p:nvPr/>
        </p:nvSpPr>
        <p:spPr>
          <a:xfrm>
            <a:off x="6095996" y="178222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212" name="矩形 211"/>
          <p:cNvSpPr/>
          <p:nvPr/>
        </p:nvSpPr>
        <p:spPr>
          <a:xfrm>
            <a:off x="7055246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3" name="矩形 212"/>
          <p:cNvSpPr/>
          <p:nvPr/>
        </p:nvSpPr>
        <p:spPr>
          <a:xfrm>
            <a:off x="7496324" y="178400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4" name="矩形 213"/>
          <p:cNvSpPr/>
          <p:nvPr/>
        </p:nvSpPr>
        <p:spPr>
          <a:xfrm>
            <a:off x="6540696" y="177505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215" name="圆角矩形 214"/>
          <p:cNvSpPr/>
          <p:nvPr/>
        </p:nvSpPr>
        <p:spPr>
          <a:xfrm>
            <a:off x="9398619" y="272893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直接连接符 215"/>
          <p:cNvCxnSpPr>
            <a:stCxn id="215" idx="0"/>
            <a:endCxn id="215" idx="2"/>
          </p:cNvCxnSpPr>
          <p:nvPr/>
        </p:nvCxnSpPr>
        <p:spPr>
          <a:xfrm>
            <a:off x="10356045" y="272893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矩形 216"/>
          <p:cNvSpPr/>
          <p:nvPr/>
        </p:nvSpPr>
        <p:spPr>
          <a:xfrm>
            <a:off x="9441648" y="276120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218" name="矩形 217"/>
          <p:cNvSpPr/>
          <p:nvPr/>
        </p:nvSpPr>
        <p:spPr>
          <a:xfrm>
            <a:off x="10400898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9" name="矩形 218"/>
          <p:cNvSpPr/>
          <p:nvPr/>
        </p:nvSpPr>
        <p:spPr>
          <a:xfrm>
            <a:off x="10841976" y="276299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20" name="矩形 219"/>
          <p:cNvSpPr/>
          <p:nvPr/>
        </p:nvSpPr>
        <p:spPr>
          <a:xfrm>
            <a:off x="9886348" y="275403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21" name="直接连接符 220"/>
          <p:cNvCxnSpPr>
            <a:stCxn id="211" idx="2"/>
            <a:endCxn id="161" idx="0"/>
          </p:cNvCxnSpPr>
          <p:nvPr/>
        </p:nvCxnSpPr>
        <p:spPr>
          <a:xfrm flipH="1">
            <a:off x="4039397" y="2147979"/>
            <a:ext cx="2269958" cy="61143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stCxn id="214" idx="2"/>
            <a:endCxn id="215" idx="0"/>
          </p:cNvCxnSpPr>
          <p:nvPr/>
        </p:nvCxnSpPr>
        <p:spPr>
          <a:xfrm>
            <a:off x="6754055" y="2140811"/>
            <a:ext cx="3601990" cy="58812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/>
          <p:cNvSpPr/>
          <p:nvPr/>
        </p:nvSpPr>
        <p:spPr>
          <a:xfrm>
            <a:off x="56284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469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48982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94344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7" name="直接箭头连接符 226"/>
          <p:cNvCxnSpPr>
            <a:stCxn id="129" idx="2"/>
            <a:endCxn id="223" idx="0"/>
          </p:cNvCxnSpPr>
          <p:nvPr/>
        </p:nvCxnSpPr>
        <p:spPr>
          <a:xfrm flipH="1">
            <a:off x="760143" y="429776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/>
          <p:cNvCxnSpPr>
            <a:stCxn id="146" idx="2"/>
            <a:endCxn id="224" idx="0"/>
          </p:cNvCxnSpPr>
          <p:nvPr/>
        </p:nvCxnSpPr>
        <p:spPr>
          <a:xfrm flipH="1">
            <a:off x="1213767" y="429776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>
            <a:stCxn id="147" idx="2"/>
            <a:endCxn id="225" idx="0"/>
          </p:cNvCxnSpPr>
          <p:nvPr/>
        </p:nvCxnSpPr>
        <p:spPr>
          <a:xfrm flipH="1">
            <a:off x="1687119" y="429776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/>
          <p:cNvCxnSpPr>
            <a:stCxn id="154" idx="2"/>
            <a:endCxn id="226" idx="0"/>
          </p:cNvCxnSpPr>
          <p:nvPr/>
        </p:nvCxnSpPr>
        <p:spPr>
          <a:xfrm flipH="1">
            <a:off x="2140743" y="429776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278072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3234349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3729217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4" name="直接箭头连接符 233"/>
          <p:cNvCxnSpPr>
            <a:stCxn id="176" idx="2"/>
            <a:endCxn id="231" idx="0"/>
          </p:cNvCxnSpPr>
          <p:nvPr/>
        </p:nvCxnSpPr>
        <p:spPr>
          <a:xfrm flipH="1">
            <a:off x="2978023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stCxn id="177" idx="2"/>
            <a:endCxn id="232" idx="0"/>
          </p:cNvCxnSpPr>
          <p:nvPr/>
        </p:nvCxnSpPr>
        <p:spPr>
          <a:xfrm flipH="1">
            <a:off x="3431647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>
            <a:stCxn id="179" idx="2"/>
            <a:endCxn id="233" idx="0"/>
          </p:cNvCxnSpPr>
          <p:nvPr/>
        </p:nvCxnSpPr>
        <p:spPr>
          <a:xfrm flipH="1">
            <a:off x="3926515" y="429776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 236"/>
          <p:cNvSpPr/>
          <p:nvPr/>
        </p:nvSpPr>
        <p:spPr>
          <a:xfrm>
            <a:off x="456648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020106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552573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0" name="直接箭头连接符 239"/>
          <p:cNvCxnSpPr>
            <a:stCxn id="205" idx="2"/>
            <a:endCxn id="237" idx="0"/>
          </p:cNvCxnSpPr>
          <p:nvPr/>
        </p:nvCxnSpPr>
        <p:spPr>
          <a:xfrm>
            <a:off x="4758442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/>
          <p:cNvCxnSpPr>
            <a:stCxn id="206" idx="2"/>
            <a:endCxn id="238" idx="0"/>
          </p:cNvCxnSpPr>
          <p:nvPr/>
        </p:nvCxnSpPr>
        <p:spPr>
          <a:xfrm>
            <a:off x="5212066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/>
          <p:cNvCxnSpPr>
            <a:stCxn id="207" idx="2"/>
            <a:endCxn id="239" idx="0"/>
          </p:cNvCxnSpPr>
          <p:nvPr/>
        </p:nvCxnSpPr>
        <p:spPr>
          <a:xfrm>
            <a:off x="5717692" y="429776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矩形 242"/>
          <p:cNvSpPr/>
          <p:nvPr/>
        </p:nvSpPr>
        <p:spPr>
          <a:xfrm>
            <a:off x="6330730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6784354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7257706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711330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7" name="直接箭头连接符 246"/>
          <p:cNvCxnSpPr>
            <a:stCxn id="157" idx="2"/>
            <a:endCxn id="243" idx="0"/>
          </p:cNvCxnSpPr>
          <p:nvPr/>
        </p:nvCxnSpPr>
        <p:spPr>
          <a:xfrm flipH="1">
            <a:off x="6528028" y="429776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/>
          <p:cNvCxnSpPr>
            <a:stCxn id="158" idx="2"/>
            <a:endCxn id="244" idx="0"/>
          </p:cNvCxnSpPr>
          <p:nvPr/>
        </p:nvCxnSpPr>
        <p:spPr>
          <a:xfrm flipH="1">
            <a:off x="6981652" y="429776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/>
          <p:cNvCxnSpPr>
            <a:stCxn id="159" idx="2"/>
            <a:endCxn id="245" idx="0"/>
          </p:cNvCxnSpPr>
          <p:nvPr/>
        </p:nvCxnSpPr>
        <p:spPr>
          <a:xfrm flipH="1">
            <a:off x="7455004" y="429776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>
            <a:stCxn id="160" idx="2"/>
            <a:endCxn id="246" idx="0"/>
          </p:cNvCxnSpPr>
          <p:nvPr/>
        </p:nvCxnSpPr>
        <p:spPr>
          <a:xfrm flipH="1">
            <a:off x="7908628" y="429776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8546812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9011194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527578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54" name="直接箭头连接符 253"/>
          <p:cNvCxnSpPr>
            <a:stCxn id="188" idx="2"/>
            <a:endCxn id="251" idx="0"/>
          </p:cNvCxnSpPr>
          <p:nvPr/>
        </p:nvCxnSpPr>
        <p:spPr>
          <a:xfrm flipH="1">
            <a:off x="8744110" y="4297767"/>
            <a:ext cx="356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>
            <a:stCxn id="189" idx="2"/>
            <a:endCxn id="252" idx="0"/>
          </p:cNvCxnSpPr>
          <p:nvPr/>
        </p:nvCxnSpPr>
        <p:spPr>
          <a:xfrm>
            <a:off x="9201302" y="429776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>
            <a:stCxn id="190" idx="2"/>
            <a:endCxn id="253" idx="0"/>
          </p:cNvCxnSpPr>
          <p:nvPr/>
        </p:nvCxnSpPr>
        <p:spPr>
          <a:xfrm>
            <a:off x="9717686" y="429776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 256"/>
          <p:cNvSpPr/>
          <p:nvPr/>
        </p:nvSpPr>
        <p:spPr>
          <a:xfrm>
            <a:off x="1030030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075392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59551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11713175" y="4663534"/>
            <a:ext cx="394595" cy="9537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61" name="直接箭头连接符 260"/>
          <p:cNvCxnSpPr>
            <a:stCxn id="196" idx="2"/>
            <a:endCxn id="257" idx="0"/>
          </p:cNvCxnSpPr>
          <p:nvPr/>
        </p:nvCxnSpPr>
        <p:spPr>
          <a:xfrm>
            <a:off x="10492195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/>
          <p:cNvCxnSpPr>
            <a:stCxn id="197" idx="2"/>
            <a:endCxn id="258" idx="0"/>
          </p:cNvCxnSpPr>
          <p:nvPr/>
        </p:nvCxnSpPr>
        <p:spPr>
          <a:xfrm>
            <a:off x="10945819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>
            <a:stCxn id="198" idx="2"/>
            <a:endCxn id="259" idx="0"/>
          </p:cNvCxnSpPr>
          <p:nvPr/>
        </p:nvCxnSpPr>
        <p:spPr>
          <a:xfrm>
            <a:off x="11451445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/>
          <p:cNvCxnSpPr>
            <a:stCxn id="200" idx="2"/>
            <a:endCxn id="260" idx="0"/>
          </p:cNvCxnSpPr>
          <p:nvPr/>
        </p:nvCxnSpPr>
        <p:spPr>
          <a:xfrm>
            <a:off x="11905069" y="429776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任意多边形 264"/>
          <p:cNvSpPr/>
          <p:nvPr/>
        </p:nvSpPr>
        <p:spPr>
          <a:xfrm>
            <a:off x="6056560" y="1366223"/>
            <a:ext cx="1043492" cy="451821"/>
          </a:xfrm>
          <a:custGeom>
            <a:avLst/>
            <a:gdLst>
              <a:gd name="connsiteX0" fmla="*/ 0 w 1111623"/>
              <a:gd name="connsiteY0" fmla="*/ 0 h 498437"/>
              <a:gd name="connsiteX1" fmla="*/ 387275 w 1111623"/>
              <a:gd name="connsiteY1" fmla="*/ 193638 h 498437"/>
              <a:gd name="connsiteX2" fmla="*/ 688489 w 1111623"/>
              <a:gd name="connsiteY2" fmla="*/ 96819 h 498437"/>
              <a:gd name="connsiteX3" fmla="*/ 1054249 w 1111623"/>
              <a:gd name="connsiteY3" fmla="*/ 441063 h 498437"/>
              <a:gd name="connsiteX4" fmla="*/ 1032734 w 1111623"/>
              <a:gd name="connsiteY4" fmla="*/ 441063 h 498437"/>
              <a:gd name="connsiteX5" fmla="*/ 1032734 w 1111623"/>
              <a:gd name="connsiteY5" fmla="*/ 441063 h 49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1623" h="498437">
                <a:moveTo>
                  <a:pt x="0" y="0"/>
                </a:moveTo>
                <a:cubicBezTo>
                  <a:pt x="136263" y="88751"/>
                  <a:pt x="272527" y="177502"/>
                  <a:pt x="387275" y="193638"/>
                </a:cubicBezTo>
                <a:cubicBezTo>
                  <a:pt x="502023" y="209775"/>
                  <a:pt x="577327" y="55582"/>
                  <a:pt x="688489" y="96819"/>
                </a:cubicBezTo>
                <a:cubicBezTo>
                  <a:pt x="799651" y="138056"/>
                  <a:pt x="996875" y="383689"/>
                  <a:pt x="1054249" y="441063"/>
                </a:cubicBezTo>
                <a:cubicBezTo>
                  <a:pt x="1111623" y="498437"/>
                  <a:pt x="1032734" y="441063"/>
                  <a:pt x="1032734" y="441063"/>
                </a:cubicBezTo>
                <a:lnTo>
                  <a:pt x="1032734" y="441063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任意多边形 265"/>
          <p:cNvSpPr/>
          <p:nvPr/>
        </p:nvSpPr>
        <p:spPr>
          <a:xfrm>
            <a:off x="191847" y="3302598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7" name="TextBox 266"/>
          <p:cNvSpPr txBox="1"/>
          <p:nvPr/>
        </p:nvSpPr>
        <p:spPr>
          <a:xfrm>
            <a:off x="5540192" y="1161826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root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410587" y="2992419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69" name="直接连接符 268"/>
          <p:cNvCxnSpPr>
            <a:stCxn id="154" idx="3"/>
            <a:endCxn id="176" idx="1"/>
          </p:cNvCxnSpPr>
          <p:nvPr/>
        </p:nvCxnSpPr>
        <p:spPr>
          <a:xfrm>
            <a:off x="2357619" y="4114888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>
            <a:stCxn id="179" idx="3"/>
            <a:endCxn id="205" idx="1"/>
          </p:cNvCxnSpPr>
          <p:nvPr/>
        </p:nvCxnSpPr>
        <p:spPr>
          <a:xfrm>
            <a:off x="4143435" y="4114888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>
            <a:stCxn id="207" idx="3"/>
            <a:endCxn id="157" idx="1"/>
          </p:cNvCxnSpPr>
          <p:nvPr/>
        </p:nvCxnSpPr>
        <p:spPr>
          <a:xfrm>
            <a:off x="5931051" y="4114888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/>
          <p:cNvCxnSpPr>
            <a:stCxn id="160" idx="3"/>
            <a:endCxn id="188" idx="1"/>
          </p:cNvCxnSpPr>
          <p:nvPr/>
        </p:nvCxnSpPr>
        <p:spPr>
          <a:xfrm>
            <a:off x="8125617" y="4114888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>
            <a:stCxn id="190" idx="3"/>
            <a:endCxn id="196" idx="1"/>
          </p:cNvCxnSpPr>
          <p:nvPr/>
        </p:nvCxnSpPr>
        <p:spPr>
          <a:xfrm>
            <a:off x="9931045" y="4114888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3928" y="5349017"/>
            <a:ext cx="9571037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474998" y="37885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/>
          <p:cNvCxnSpPr>
            <a:stCxn id="118" idx="0"/>
            <a:endCxn id="118" idx="2"/>
          </p:cNvCxnSpPr>
          <p:nvPr/>
        </p:nvCxnSpPr>
        <p:spPr>
          <a:xfrm>
            <a:off x="1432424" y="37885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55030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146" name="矩形 145"/>
          <p:cNvSpPr/>
          <p:nvPr/>
        </p:nvSpPr>
        <p:spPr>
          <a:xfrm>
            <a:off x="1003924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147" name="矩形 146"/>
          <p:cNvSpPr/>
          <p:nvPr/>
        </p:nvSpPr>
        <p:spPr>
          <a:xfrm>
            <a:off x="147727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1930901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55" name="圆角矩形 154"/>
          <p:cNvSpPr/>
          <p:nvPr/>
        </p:nvSpPr>
        <p:spPr>
          <a:xfrm>
            <a:off x="6242996" y="3801112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连接符 155"/>
          <p:cNvCxnSpPr>
            <a:stCxn id="155" idx="0"/>
            <a:endCxn id="155" idx="2"/>
          </p:cNvCxnSpPr>
          <p:nvPr/>
        </p:nvCxnSpPr>
        <p:spPr>
          <a:xfrm>
            <a:off x="7200422" y="380111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/>
          <p:cNvSpPr/>
          <p:nvPr/>
        </p:nvSpPr>
        <p:spPr>
          <a:xfrm>
            <a:off x="6318298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158" name="矩形 157"/>
          <p:cNvSpPr/>
          <p:nvPr/>
        </p:nvSpPr>
        <p:spPr>
          <a:xfrm>
            <a:off x="6771922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159" name="矩形 158"/>
          <p:cNvSpPr/>
          <p:nvPr/>
        </p:nvSpPr>
        <p:spPr>
          <a:xfrm>
            <a:off x="7245275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160" name="矩形 159"/>
          <p:cNvSpPr/>
          <p:nvPr/>
        </p:nvSpPr>
        <p:spPr>
          <a:xfrm>
            <a:off x="769889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161" name="圆角矩形 160"/>
          <p:cNvSpPr/>
          <p:nvPr/>
        </p:nvSpPr>
        <p:spPr>
          <a:xfrm>
            <a:off x="3081971" y="265183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/>
          <p:cNvCxnSpPr>
            <a:stCxn id="161" idx="0"/>
            <a:endCxn id="161" idx="2"/>
          </p:cNvCxnSpPr>
          <p:nvPr/>
        </p:nvCxnSpPr>
        <p:spPr>
          <a:xfrm>
            <a:off x="4039397" y="265183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矩形 162"/>
          <p:cNvSpPr/>
          <p:nvPr/>
        </p:nvSpPr>
        <p:spPr>
          <a:xfrm>
            <a:off x="3125000" y="26841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65" name="矩形 164"/>
          <p:cNvSpPr/>
          <p:nvPr/>
        </p:nvSpPr>
        <p:spPr>
          <a:xfrm>
            <a:off x="4084250" y="268589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166" name="矩形 165"/>
          <p:cNvSpPr/>
          <p:nvPr/>
        </p:nvSpPr>
        <p:spPr>
          <a:xfrm>
            <a:off x="4525328" y="268589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cxnSp>
        <p:nvCxnSpPr>
          <p:cNvPr id="172" name="直接连接符 171"/>
          <p:cNvCxnSpPr>
            <a:stCxn id="163" idx="2"/>
            <a:endCxn id="118" idx="0"/>
          </p:cNvCxnSpPr>
          <p:nvPr/>
        </p:nvCxnSpPr>
        <p:spPr>
          <a:xfrm flipH="1">
            <a:off x="1432424" y="3049863"/>
            <a:ext cx="1905935" cy="73869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5" idx="2"/>
            <a:endCxn id="203" idx="0"/>
          </p:cNvCxnSpPr>
          <p:nvPr/>
        </p:nvCxnSpPr>
        <p:spPr>
          <a:xfrm>
            <a:off x="4297609" y="3051651"/>
            <a:ext cx="911777" cy="74051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/>
          <p:cNvSpPr/>
          <p:nvPr/>
        </p:nvSpPr>
        <p:spPr>
          <a:xfrm>
            <a:off x="2692923" y="3801112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连接符 174"/>
          <p:cNvCxnSpPr/>
          <p:nvPr/>
        </p:nvCxnSpPr>
        <p:spPr>
          <a:xfrm>
            <a:off x="3664752" y="380111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2768225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77" name="矩形 176"/>
          <p:cNvSpPr/>
          <p:nvPr/>
        </p:nvSpPr>
        <p:spPr>
          <a:xfrm>
            <a:off x="322184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79" name="矩形 178"/>
          <p:cNvSpPr/>
          <p:nvPr/>
        </p:nvSpPr>
        <p:spPr>
          <a:xfrm>
            <a:off x="371671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cxnSp>
        <p:nvCxnSpPr>
          <p:cNvPr id="185" name="直接连接符 184"/>
          <p:cNvCxnSpPr>
            <a:stCxn id="202" idx="2"/>
            <a:endCxn id="174" idx="0"/>
          </p:cNvCxnSpPr>
          <p:nvPr/>
        </p:nvCxnSpPr>
        <p:spPr>
          <a:xfrm flipH="1">
            <a:off x="3438833" y="3042695"/>
            <a:ext cx="344226" cy="75841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圆角矩形 185"/>
          <p:cNvSpPr/>
          <p:nvPr/>
        </p:nvSpPr>
        <p:spPr>
          <a:xfrm>
            <a:off x="8491290" y="3801131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7" name="直接连接符 186"/>
          <p:cNvCxnSpPr/>
          <p:nvPr/>
        </p:nvCxnSpPr>
        <p:spPr>
          <a:xfrm>
            <a:off x="9463118" y="37796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/>
          <p:cNvSpPr/>
          <p:nvPr/>
        </p:nvSpPr>
        <p:spPr>
          <a:xfrm>
            <a:off x="853431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89" name="矩形 188"/>
          <p:cNvSpPr/>
          <p:nvPr/>
        </p:nvSpPr>
        <p:spPr>
          <a:xfrm>
            <a:off x="898794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90" name="矩形 189"/>
          <p:cNvSpPr/>
          <p:nvPr/>
        </p:nvSpPr>
        <p:spPr>
          <a:xfrm>
            <a:off x="950432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cxnSp>
        <p:nvCxnSpPr>
          <p:cNvPr id="192" name="直接连接符 191"/>
          <p:cNvCxnSpPr>
            <a:stCxn id="166" idx="2"/>
            <a:endCxn id="155" idx="0"/>
          </p:cNvCxnSpPr>
          <p:nvPr/>
        </p:nvCxnSpPr>
        <p:spPr>
          <a:xfrm>
            <a:off x="4738687" y="3051651"/>
            <a:ext cx="2461735" cy="74946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圆角矩形 193"/>
          <p:cNvSpPr/>
          <p:nvPr/>
        </p:nvSpPr>
        <p:spPr>
          <a:xfrm>
            <a:off x="10235807" y="380292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5" name="直接连接符 194"/>
          <p:cNvCxnSpPr>
            <a:stCxn id="194" idx="0"/>
            <a:endCxn id="194" idx="2"/>
          </p:cNvCxnSpPr>
          <p:nvPr/>
        </p:nvCxnSpPr>
        <p:spPr>
          <a:xfrm>
            <a:off x="11193233" y="380292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/>
        </p:nvSpPr>
        <p:spPr>
          <a:xfrm>
            <a:off x="10278836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97" name="矩形 196"/>
          <p:cNvSpPr/>
          <p:nvPr/>
        </p:nvSpPr>
        <p:spPr>
          <a:xfrm>
            <a:off x="1073246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98" name="矩形 197"/>
          <p:cNvSpPr/>
          <p:nvPr/>
        </p:nvSpPr>
        <p:spPr>
          <a:xfrm>
            <a:off x="11238086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200" name="矩形 199"/>
          <p:cNvSpPr/>
          <p:nvPr/>
        </p:nvSpPr>
        <p:spPr>
          <a:xfrm>
            <a:off x="1169171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01" name="直接连接符 200"/>
          <p:cNvCxnSpPr>
            <a:stCxn id="217" idx="2"/>
            <a:endCxn id="186" idx="0"/>
          </p:cNvCxnSpPr>
          <p:nvPr/>
        </p:nvCxnSpPr>
        <p:spPr>
          <a:xfrm flipH="1">
            <a:off x="9226442" y="3019384"/>
            <a:ext cx="428565" cy="78174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 201"/>
          <p:cNvSpPr/>
          <p:nvPr/>
        </p:nvSpPr>
        <p:spPr>
          <a:xfrm>
            <a:off x="3569700" y="26769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203" name="圆角矩形 202"/>
          <p:cNvSpPr/>
          <p:nvPr/>
        </p:nvSpPr>
        <p:spPr>
          <a:xfrm>
            <a:off x="4469781" y="3792163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4" name="直接连接符 203"/>
          <p:cNvCxnSpPr/>
          <p:nvPr/>
        </p:nvCxnSpPr>
        <p:spPr>
          <a:xfrm>
            <a:off x="5467578" y="379216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/>
          <p:cNvSpPr/>
          <p:nvPr/>
        </p:nvSpPr>
        <p:spPr>
          <a:xfrm>
            <a:off x="454508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206" name="矩形 205"/>
          <p:cNvSpPr/>
          <p:nvPr/>
        </p:nvSpPr>
        <p:spPr>
          <a:xfrm>
            <a:off x="499870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207" name="矩形 206"/>
          <p:cNvSpPr/>
          <p:nvPr/>
        </p:nvSpPr>
        <p:spPr>
          <a:xfrm>
            <a:off x="550433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cxnSp>
        <p:nvCxnSpPr>
          <p:cNvPr id="208" name="直接连接符 207"/>
          <p:cNvCxnSpPr>
            <a:stCxn id="220" idx="2"/>
            <a:endCxn id="194" idx="0"/>
          </p:cNvCxnSpPr>
          <p:nvPr/>
        </p:nvCxnSpPr>
        <p:spPr>
          <a:xfrm>
            <a:off x="10099707" y="3012216"/>
            <a:ext cx="1093526" cy="790709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圆角矩形 208"/>
          <p:cNvSpPr/>
          <p:nvPr/>
        </p:nvSpPr>
        <p:spPr>
          <a:xfrm>
            <a:off x="6052967" y="164237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0" name="直接连接符 209"/>
          <p:cNvCxnSpPr>
            <a:stCxn id="209" idx="0"/>
            <a:endCxn id="209" idx="2"/>
          </p:cNvCxnSpPr>
          <p:nvPr/>
        </p:nvCxnSpPr>
        <p:spPr>
          <a:xfrm>
            <a:off x="7010393" y="164237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矩形 210"/>
          <p:cNvSpPr/>
          <p:nvPr/>
        </p:nvSpPr>
        <p:spPr>
          <a:xfrm>
            <a:off x="6095996" y="167464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212" name="矩形 211"/>
          <p:cNvSpPr/>
          <p:nvPr/>
        </p:nvSpPr>
        <p:spPr>
          <a:xfrm>
            <a:off x="7055246" y="1676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3" name="矩形 212"/>
          <p:cNvSpPr/>
          <p:nvPr/>
        </p:nvSpPr>
        <p:spPr>
          <a:xfrm>
            <a:off x="7496324" y="1676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4" name="矩形 213"/>
          <p:cNvSpPr/>
          <p:nvPr/>
        </p:nvSpPr>
        <p:spPr>
          <a:xfrm>
            <a:off x="6540696" y="1667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215" name="圆角矩形 214"/>
          <p:cNvSpPr/>
          <p:nvPr/>
        </p:nvSpPr>
        <p:spPr>
          <a:xfrm>
            <a:off x="9398619" y="262135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直接连接符 215"/>
          <p:cNvCxnSpPr>
            <a:stCxn id="215" idx="0"/>
            <a:endCxn id="215" idx="2"/>
          </p:cNvCxnSpPr>
          <p:nvPr/>
        </p:nvCxnSpPr>
        <p:spPr>
          <a:xfrm>
            <a:off x="10356045" y="262135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矩形 216"/>
          <p:cNvSpPr/>
          <p:nvPr/>
        </p:nvSpPr>
        <p:spPr>
          <a:xfrm>
            <a:off x="9441648" y="265362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218" name="矩形 217"/>
          <p:cNvSpPr/>
          <p:nvPr/>
        </p:nvSpPr>
        <p:spPr>
          <a:xfrm>
            <a:off x="10400898" y="265541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9" name="矩形 218"/>
          <p:cNvSpPr/>
          <p:nvPr/>
        </p:nvSpPr>
        <p:spPr>
          <a:xfrm>
            <a:off x="10841976" y="265541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20" name="矩形 219"/>
          <p:cNvSpPr/>
          <p:nvPr/>
        </p:nvSpPr>
        <p:spPr>
          <a:xfrm>
            <a:off x="9886348" y="264645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21" name="直接连接符 220"/>
          <p:cNvCxnSpPr>
            <a:stCxn id="211" idx="2"/>
            <a:endCxn id="161" idx="0"/>
          </p:cNvCxnSpPr>
          <p:nvPr/>
        </p:nvCxnSpPr>
        <p:spPr>
          <a:xfrm flipH="1">
            <a:off x="4039397" y="2040399"/>
            <a:ext cx="2269958" cy="61143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stCxn id="214" idx="2"/>
            <a:endCxn id="215" idx="0"/>
          </p:cNvCxnSpPr>
          <p:nvPr/>
        </p:nvCxnSpPr>
        <p:spPr>
          <a:xfrm>
            <a:off x="6754055" y="2033231"/>
            <a:ext cx="3601990" cy="58812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/>
          <p:cNvSpPr/>
          <p:nvPr/>
        </p:nvSpPr>
        <p:spPr>
          <a:xfrm>
            <a:off x="562845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469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48982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943445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7" name="直接箭头连接符 226"/>
          <p:cNvCxnSpPr>
            <a:stCxn id="129" idx="2"/>
            <a:endCxn id="223" idx="0"/>
          </p:cNvCxnSpPr>
          <p:nvPr/>
        </p:nvCxnSpPr>
        <p:spPr>
          <a:xfrm flipH="1">
            <a:off x="760143" y="419018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/>
          <p:cNvCxnSpPr>
            <a:stCxn id="146" idx="2"/>
            <a:endCxn id="224" idx="0"/>
          </p:cNvCxnSpPr>
          <p:nvPr/>
        </p:nvCxnSpPr>
        <p:spPr>
          <a:xfrm flipH="1">
            <a:off x="1213767" y="419018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>
            <a:stCxn id="147" idx="2"/>
            <a:endCxn id="225" idx="0"/>
          </p:cNvCxnSpPr>
          <p:nvPr/>
        </p:nvCxnSpPr>
        <p:spPr>
          <a:xfrm flipH="1">
            <a:off x="1687119" y="419018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/>
          <p:cNvCxnSpPr>
            <a:stCxn id="154" idx="2"/>
            <a:endCxn id="226" idx="0"/>
          </p:cNvCxnSpPr>
          <p:nvPr/>
        </p:nvCxnSpPr>
        <p:spPr>
          <a:xfrm flipH="1">
            <a:off x="2140743" y="419018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2780725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3234349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3729217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4" name="直接箭头连接符 233"/>
          <p:cNvCxnSpPr>
            <a:stCxn id="176" idx="2"/>
            <a:endCxn id="231" idx="0"/>
          </p:cNvCxnSpPr>
          <p:nvPr/>
        </p:nvCxnSpPr>
        <p:spPr>
          <a:xfrm flipH="1">
            <a:off x="2978023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stCxn id="177" idx="2"/>
            <a:endCxn id="232" idx="0"/>
          </p:cNvCxnSpPr>
          <p:nvPr/>
        </p:nvCxnSpPr>
        <p:spPr>
          <a:xfrm flipH="1">
            <a:off x="3431647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>
            <a:stCxn id="179" idx="2"/>
            <a:endCxn id="233" idx="0"/>
          </p:cNvCxnSpPr>
          <p:nvPr/>
        </p:nvCxnSpPr>
        <p:spPr>
          <a:xfrm flipH="1">
            <a:off x="3926515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 236"/>
          <p:cNvSpPr/>
          <p:nvPr/>
        </p:nvSpPr>
        <p:spPr>
          <a:xfrm>
            <a:off x="4566482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020106" y="4555954"/>
            <a:ext cx="394595" cy="69377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5525732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0" name="直接箭头连接符 239"/>
          <p:cNvCxnSpPr>
            <a:stCxn id="205" idx="2"/>
            <a:endCxn id="237" idx="0"/>
          </p:cNvCxnSpPr>
          <p:nvPr/>
        </p:nvCxnSpPr>
        <p:spPr>
          <a:xfrm>
            <a:off x="4758442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/>
          <p:cNvCxnSpPr>
            <a:stCxn id="206" idx="2"/>
            <a:endCxn id="238" idx="0"/>
          </p:cNvCxnSpPr>
          <p:nvPr/>
        </p:nvCxnSpPr>
        <p:spPr>
          <a:xfrm>
            <a:off x="5212066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/>
          <p:cNvCxnSpPr>
            <a:stCxn id="207" idx="2"/>
            <a:endCxn id="239" idx="0"/>
          </p:cNvCxnSpPr>
          <p:nvPr/>
        </p:nvCxnSpPr>
        <p:spPr>
          <a:xfrm>
            <a:off x="5717692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矩形 242"/>
          <p:cNvSpPr/>
          <p:nvPr/>
        </p:nvSpPr>
        <p:spPr>
          <a:xfrm>
            <a:off x="6330730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6784354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7257706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711330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7" name="直接箭头连接符 246"/>
          <p:cNvCxnSpPr>
            <a:stCxn id="157" idx="2"/>
            <a:endCxn id="243" idx="0"/>
          </p:cNvCxnSpPr>
          <p:nvPr/>
        </p:nvCxnSpPr>
        <p:spPr>
          <a:xfrm flipH="1">
            <a:off x="6528028" y="419018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/>
          <p:cNvCxnSpPr>
            <a:stCxn id="158" idx="2"/>
            <a:endCxn id="244" idx="0"/>
          </p:cNvCxnSpPr>
          <p:nvPr/>
        </p:nvCxnSpPr>
        <p:spPr>
          <a:xfrm flipH="1">
            <a:off x="6981652" y="419018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/>
          <p:cNvCxnSpPr>
            <a:stCxn id="159" idx="2"/>
            <a:endCxn id="245" idx="0"/>
          </p:cNvCxnSpPr>
          <p:nvPr/>
        </p:nvCxnSpPr>
        <p:spPr>
          <a:xfrm flipH="1">
            <a:off x="7455004" y="419018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>
            <a:stCxn id="160" idx="2"/>
            <a:endCxn id="246" idx="0"/>
          </p:cNvCxnSpPr>
          <p:nvPr/>
        </p:nvCxnSpPr>
        <p:spPr>
          <a:xfrm flipH="1">
            <a:off x="7908628" y="419018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8546812" y="4555955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9011194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527578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54" name="直接箭头连接符 253"/>
          <p:cNvCxnSpPr>
            <a:stCxn id="188" idx="2"/>
            <a:endCxn id="251" idx="0"/>
          </p:cNvCxnSpPr>
          <p:nvPr/>
        </p:nvCxnSpPr>
        <p:spPr>
          <a:xfrm flipH="1">
            <a:off x="8744110" y="4190187"/>
            <a:ext cx="3568" cy="365768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>
            <a:stCxn id="189" idx="2"/>
            <a:endCxn id="252" idx="0"/>
          </p:cNvCxnSpPr>
          <p:nvPr/>
        </p:nvCxnSpPr>
        <p:spPr>
          <a:xfrm>
            <a:off x="9201302" y="419018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>
            <a:stCxn id="190" idx="2"/>
            <a:endCxn id="253" idx="0"/>
          </p:cNvCxnSpPr>
          <p:nvPr/>
        </p:nvCxnSpPr>
        <p:spPr>
          <a:xfrm>
            <a:off x="9717686" y="419018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 256"/>
          <p:cNvSpPr/>
          <p:nvPr/>
        </p:nvSpPr>
        <p:spPr>
          <a:xfrm>
            <a:off x="1030030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0753925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5955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11713175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61" name="直接箭头连接符 260"/>
          <p:cNvCxnSpPr>
            <a:stCxn id="196" idx="2"/>
            <a:endCxn id="257" idx="0"/>
          </p:cNvCxnSpPr>
          <p:nvPr/>
        </p:nvCxnSpPr>
        <p:spPr>
          <a:xfrm>
            <a:off x="10492195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/>
          <p:cNvCxnSpPr>
            <a:stCxn id="197" idx="2"/>
            <a:endCxn id="258" idx="0"/>
          </p:cNvCxnSpPr>
          <p:nvPr/>
        </p:nvCxnSpPr>
        <p:spPr>
          <a:xfrm>
            <a:off x="10945819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>
            <a:stCxn id="198" idx="2"/>
            <a:endCxn id="259" idx="0"/>
          </p:cNvCxnSpPr>
          <p:nvPr/>
        </p:nvCxnSpPr>
        <p:spPr>
          <a:xfrm>
            <a:off x="11451445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/>
          <p:cNvCxnSpPr>
            <a:stCxn id="200" idx="2"/>
            <a:endCxn id="260" idx="0"/>
          </p:cNvCxnSpPr>
          <p:nvPr/>
        </p:nvCxnSpPr>
        <p:spPr>
          <a:xfrm>
            <a:off x="11905069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任意多边形 264"/>
          <p:cNvSpPr/>
          <p:nvPr/>
        </p:nvSpPr>
        <p:spPr>
          <a:xfrm>
            <a:off x="6056560" y="1258643"/>
            <a:ext cx="1043492" cy="451821"/>
          </a:xfrm>
          <a:custGeom>
            <a:avLst/>
            <a:gdLst>
              <a:gd name="connsiteX0" fmla="*/ 0 w 1111623"/>
              <a:gd name="connsiteY0" fmla="*/ 0 h 498437"/>
              <a:gd name="connsiteX1" fmla="*/ 387275 w 1111623"/>
              <a:gd name="connsiteY1" fmla="*/ 193638 h 498437"/>
              <a:gd name="connsiteX2" fmla="*/ 688489 w 1111623"/>
              <a:gd name="connsiteY2" fmla="*/ 96819 h 498437"/>
              <a:gd name="connsiteX3" fmla="*/ 1054249 w 1111623"/>
              <a:gd name="connsiteY3" fmla="*/ 441063 h 498437"/>
              <a:gd name="connsiteX4" fmla="*/ 1032734 w 1111623"/>
              <a:gd name="connsiteY4" fmla="*/ 441063 h 498437"/>
              <a:gd name="connsiteX5" fmla="*/ 1032734 w 1111623"/>
              <a:gd name="connsiteY5" fmla="*/ 441063 h 49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1623" h="498437">
                <a:moveTo>
                  <a:pt x="0" y="0"/>
                </a:moveTo>
                <a:cubicBezTo>
                  <a:pt x="136263" y="88751"/>
                  <a:pt x="272527" y="177502"/>
                  <a:pt x="387275" y="193638"/>
                </a:cubicBezTo>
                <a:cubicBezTo>
                  <a:pt x="502023" y="209775"/>
                  <a:pt x="577327" y="55582"/>
                  <a:pt x="688489" y="96819"/>
                </a:cubicBezTo>
                <a:cubicBezTo>
                  <a:pt x="799651" y="138056"/>
                  <a:pt x="996875" y="383689"/>
                  <a:pt x="1054249" y="441063"/>
                </a:cubicBezTo>
                <a:cubicBezTo>
                  <a:pt x="1111623" y="498437"/>
                  <a:pt x="1032734" y="441063"/>
                  <a:pt x="1032734" y="441063"/>
                </a:cubicBezTo>
                <a:lnTo>
                  <a:pt x="1032734" y="441063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任意多边形 265"/>
          <p:cNvSpPr/>
          <p:nvPr/>
        </p:nvSpPr>
        <p:spPr>
          <a:xfrm>
            <a:off x="191847" y="3195018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7" name="TextBox 266"/>
          <p:cNvSpPr txBox="1"/>
          <p:nvPr/>
        </p:nvSpPr>
        <p:spPr>
          <a:xfrm>
            <a:off x="5540192" y="1054246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root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410587" y="2884839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69" name="直接连接符 268"/>
          <p:cNvCxnSpPr>
            <a:stCxn id="154" idx="3"/>
            <a:endCxn id="176" idx="1"/>
          </p:cNvCxnSpPr>
          <p:nvPr/>
        </p:nvCxnSpPr>
        <p:spPr>
          <a:xfrm>
            <a:off x="2357619" y="4007308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>
            <a:stCxn id="179" idx="3"/>
            <a:endCxn id="205" idx="1"/>
          </p:cNvCxnSpPr>
          <p:nvPr/>
        </p:nvCxnSpPr>
        <p:spPr>
          <a:xfrm>
            <a:off x="4143435" y="4007308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>
            <a:stCxn id="207" idx="3"/>
            <a:endCxn id="157" idx="1"/>
          </p:cNvCxnSpPr>
          <p:nvPr/>
        </p:nvCxnSpPr>
        <p:spPr>
          <a:xfrm>
            <a:off x="5931051" y="4007308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/>
          <p:cNvCxnSpPr>
            <a:stCxn id="160" idx="3"/>
            <a:endCxn id="188" idx="1"/>
          </p:cNvCxnSpPr>
          <p:nvPr/>
        </p:nvCxnSpPr>
        <p:spPr>
          <a:xfrm>
            <a:off x="8125617" y="4007308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>
            <a:stCxn id="190" idx="3"/>
            <a:endCxn id="196" idx="1"/>
          </p:cNvCxnSpPr>
          <p:nvPr/>
        </p:nvCxnSpPr>
        <p:spPr>
          <a:xfrm>
            <a:off x="9931045" y="4007308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474998" y="3788561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/>
          <p:cNvCxnSpPr>
            <a:stCxn id="118" idx="0"/>
            <a:endCxn id="118" idx="2"/>
          </p:cNvCxnSpPr>
          <p:nvPr/>
        </p:nvCxnSpPr>
        <p:spPr>
          <a:xfrm>
            <a:off x="1432424" y="3788561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55030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146" name="矩形 145"/>
          <p:cNvSpPr/>
          <p:nvPr/>
        </p:nvSpPr>
        <p:spPr>
          <a:xfrm>
            <a:off x="1003924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147" name="矩形 146"/>
          <p:cNvSpPr/>
          <p:nvPr/>
        </p:nvSpPr>
        <p:spPr>
          <a:xfrm>
            <a:off x="147727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</a:t>
            </a:r>
            <a:endParaRPr lang="zh-CN" altLang="en-US" sz="1400" dirty="0"/>
          </a:p>
        </p:txBody>
      </p:sp>
      <p:sp>
        <p:nvSpPr>
          <p:cNvPr id="154" name="矩形 153"/>
          <p:cNvSpPr/>
          <p:nvPr/>
        </p:nvSpPr>
        <p:spPr>
          <a:xfrm>
            <a:off x="1930901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55" name="圆角矩形 154"/>
          <p:cNvSpPr/>
          <p:nvPr/>
        </p:nvSpPr>
        <p:spPr>
          <a:xfrm>
            <a:off x="6242996" y="3801112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连接符 155"/>
          <p:cNvCxnSpPr>
            <a:stCxn id="155" idx="0"/>
            <a:endCxn id="155" idx="2"/>
          </p:cNvCxnSpPr>
          <p:nvPr/>
        </p:nvCxnSpPr>
        <p:spPr>
          <a:xfrm>
            <a:off x="7200422" y="380111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/>
          <p:cNvSpPr/>
          <p:nvPr/>
        </p:nvSpPr>
        <p:spPr>
          <a:xfrm>
            <a:off x="6318298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33</a:t>
            </a:r>
            <a:endParaRPr lang="zh-CN" altLang="en-US" sz="1400" dirty="0"/>
          </a:p>
        </p:txBody>
      </p:sp>
      <p:sp>
        <p:nvSpPr>
          <p:cNvPr id="158" name="矩形 157"/>
          <p:cNvSpPr/>
          <p:nvPr/>
        </p:nvSpPr>
        <p:spPr>
          <a:xfrm>
            <a:off x="6771922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34</a:t>
            </a:r>
            <a:endParaRPr lang="zh-CN" altLang="en-US" sz="1400" dirty="0"/>
          </a:p>
        </p:txBody>
      </p:sp>
      <p:sp>
        <p:nvSpPr>
          <p:cNvPr id="159" name="矩形 158"/>
          <p:cNvSpPr/>
          <p:nvPr/>
        </p:nvSpPr>
        <p:spPr>
          <a:xfrm>
            <a:off x="7245275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36</a:t>
            </a:r>
            <a:endParaRPr lang="zh-CN" altLang="en-US" sz="1400" dirty="0"/>
          </a:p>
        </p:txBody>
      </p:sp>
      <p:sp>
        <p:nvSpPr>
          <p:cNvPr id="160" name="矩形 159"/>
          <p:cNvSpPr/>
          <p:nvPr/>
        </p:nvSpPr>
        <p:spPr>
          <a:xfrm>
            <a:off x="769889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161" name="圆角矩形 160"/>
          <p:cNvSpPr/>
          <p:nvPr/>
        </p:nvSpPr>
        <p:spPr>
          <a:xfrm>
            <a:off x="3081971" y="2651837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/>
          <p:cNvCxnSpPr>
            <a:stCxn id="161" idx="0"/>
            <a:endCxn id="161" idx="2"/>
          </p:cNvCxnSpPr>
          <p:nvPr/>
        </p:nvCxnSpPr>
        <p:spPr>
          <a:xfrm>
            <a:off x="4039397" y="2651837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矩形 162"/>
          <p:cNvSpPr/>
          <p:nvPr/>
        </p:nvSpPr>
        <p:spPr>
          <a:xfrm>
            <a:off x="3125000" y="2684104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65" name="矩形 164"/>
          <p:cNvSpPr/>
          <p:nvPr/>
        </p:nvSpPr>
        <p:spPr>
          <a:xfrm>
            <a:off x="4084250" y="268589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sp>
        <p:nvSpPr>
          <p:cNvPr id="166" name="矩形 165"/>
          <p:cNvSpPr/>
          <p:nvPr/>
        </p:nvSpPr>
        <p:spPr>
          <a:xfrm>
            <a:off x="4525328" y="268589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cxnSp>
        <p:nvCxnSpPr>
          <p:cNvPr id="172" name="直接连接符 171"/>
          <p:cNvCxnSpPr>
            <a:stCxn id="163" idx="2"/>
            <a:endCxn id="118" idx="0"/>
          </p:cNvCxnSpPr>
          <p:nvPr/>
        </p:nvCxnSpPr>
        <p:spPr>
          <a:xfrm flipH="1">
            <a:off x="1432424" y="3049863"/>
            <a:ext cx="1905935" cy="73869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5" idx="2"/>
          </p:cNvCxnSpPr>
          <p:nvPr/>
        </p:nvCxnSpPr>
        <p:spPr>
          <a:xfrm>
            <a:off x="4297609" y="3051651"/>
            <a:ext cx="435743" cy="767325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/>
          <p:cNvSpPr/>
          <p:nvPr/>
        </p:nvSpPr>
        <p:spPr>
          <a:xfrm>
            <a:off x="2692923" y="3801112"/>
            <a:ext cx="1491820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连接符 174"/>
          <p:cNvCxnSpPr/>
          <p:nvPr/>
        </p:nvCxnSpPr>
        <p:spPr>
          <a:xfrm>
            <a:off x="3664752" y="3801112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2768225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11</a:t>
            </a:r>
            <a:endParaRPr lang="zh-CN" altLang="en-US" sz="1400" dirty="0"/>
          </a:p>
        </p:txBody>
      </p:sp>
      <p:sp>
        <p:nvSpPr>
          <p:cNvPr id="177" name="矩形 176"/>
          <p:cNvSpPr/>
          <p:nvPr/>
        </p:nvSpPr>
        <p:spPr>
          <a:xfrm>
            <a:off x="322184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12</a:t>
            </a:r>
            <a:endParaRPr lang="zh-CN" altLang="en-US" sz="1400" dirty="0"/>
          </a:p>
        </p:txBody>
      </p:sp>
      <p:sp>
        <p:nvSpPr>
          <p:cNvPr id="179" name="矩形 178"/>
          <p:cNvSpPr/>
          <p:nvPr/>
        </p:nvSpPr>
        <p:spPr>
          <a:xfrm>
            <a:off x="371671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cxnSp>
        <p:nvCxnSpPr>
          <p:cNvPr id="185" name="直接连接符 184"/>
          <p:cNvCxnSpPr>
            <a:stCxn id="202" idx="2"/>
            <a:endCxn id="174" idx="0"/>
          </p:cNvCxnSpPr>
          <p:nvPr/>
        </p:nvCxnSpPr>
        <p:spPr>
          <a:xfrm flipH="1">
            <a:off x="3438833" y="3042695"/>
            <a:ext cx="344226" cy="75841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圆角矩形 185"/>
          <p:cNvSpPr/>
          <p:nvPr/>
        </p:nvSpPr>
        <p:spPr>
          <a:xfrm>
            <a:off x="8491290" y="3801131"/>
            <a:ext cx="1470303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7" name="直接连接符 186"/>
          <p:cNvCxnSpPr/>
          <p:nvPr/>
        </p:nvCxnSpPr>
        <p:spPr>
          <a:xfrm>
            <a:off x="9463118" y="377961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/>
          <p:cNvSpPr/>
          <p:nvPr/>
        </p:nvSpPr>
        <p:spPr>
          <a:xfrm>
            <a:off x="8534319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51</a:t>
            </a:r>
            <a:endParaRPr lang="zh-CN" altLang="en-US" sz="1400" dirty="0"/>
          </a:p>
        </p:txBody>
      </p:sp>
      <p:sp>
        <p:nvSpPr>
          <p:cNvPr id="189" name="矩形 188"/>
          <p:cNvSpPr/>
          <p:nvPr/>
        </p:nvSpPr>
        <p:spPr>
          <a:xfrm>
            <a:off x="898794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55</a:t>
            </a:r>
            <a:endParaRPr lang="zh-CN" altLang="en-US" sz="1400" dirty="0"/>
          </a:p>
        </p:txBody>
      </p:sp>
      <p:sp>
        <p:nvSpPr>
          <p:cNvPr id="190" name="矩形 189"/>
          <p:cNvSpPr/>
          <p:nvPr/>
        </p:nvSpPr>
        <p:spPr>
          <a:xfrm>
            <a:off x="950432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cxnSp>
        <p:nvCxnSpPr>
          <p:cNvPr id="192" name="直接连接符 191"/>
          <p:cNvCxnSpPr>
            <a:stCxn id="166" idx="2"/>
            <a:endCxn id="155" idx="0"/>
          </p:cNvCxnSpPr>
          <p:nvPr/>
        </p:nvCxnSpPr>
        <p:spPr>
          <a:xfrm>
            <a:off x="4738687" y="3051651"/>
            <a:ext cx="2461735" cy="74946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圆角矩形 193"/>
          <p:cNvSpPr/>
          <p:nvPr/>
        </p:nvSpPr>
        <p:spPr>
          <a:xfrm>
            <a:off x="10235807" y="3802925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5" name="直接连接符 194"/>
          <p:cNvCxnSpPr>
            <a:stCxn id="194" idx="0"/>
            <a:endCxn id="194" idx="2"/>
          </p:cNvCxnSpPr>
          <p:nvPr/>
        </p:nvCxnSpPr>
        <p:spPr>
          <a:xfrm>
            <a:off x="11193233" y="3802925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/>
        </p:nvSpPr>
        <p:spPr>
          <a:xfrm>
            <a:off x="10278836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71</a:t>
            </a:r>
            <a:endParaRPr lang="zh-CN" altLang="en-US" sz="1400" dirty="0"/>
          </a:p>
        </p:txBody>
      </p:sp>
      <p:sp>
        <p:nvSpPr>
          <p:cNvPr id="197" name="矩形 196"/>
          <p:cNvSpPr/>
          <p:nvPr/>
        </p:nvSpPr>
        <p:spPr>
          <a:xfrm>
            <a:off x="1073246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72</a:t>
            </a:r>
            <a:endParaRPr lang="zh-CN" altLang="en-US" sz="1400" dirty="0"/>
          </a:p>
        </p:txBody>
      </p:sp>
      <p:sp>
        <p:nvSpPr>
          <p:cNvPr id="198" name="矩形 197"/>
          <p:cNvSpPr/>
          <p:nvPr/>
        </p:nvSpPr>
        <p:spPr>
          <a:xfrm>
            <a:off x="11238086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75</a:t>
            </a:r>
            <a:endParaRPr lang="zh-CN" altLang="en-US" sz="1400" dirty="0"/>
          </a:p>
        </p:txBody>
      </p:sp>
      <p:sp>
        <p:nvSpPr>
          <p:cNvPr id="200" name="矩形 199"/>
          <p:cNvSpPr/>
          <p:nvPr/>
        </p:nvSpPr>
        <p:spPr>
          <a:xfrm>
            <a:off x="11691710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01" name="直接连接符 200"/>
          <p:cNvCxnSpPr>
            <a:stCxn id="217" idx="2"/>
            <a:endCxn id="186" idx="0"/>
          </p:cNvCxnSpPr>
          <p:nvPr/>
        </p:nvCxnSpPr>
        <p:spPr>
          <a:xfrm flipH="1">
            <a:off x="9226442" y="3019384"/>
            <a:ext cx="428565" cy="78174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 201"/>
          <p:cNvSpPr/>
          <p:nvPr/>
        </p:nvSpPr>
        <p:spPr>
          <a:xfrm>
            <a:off x="3569700" y="2676936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13</a:t>
            </a:r>
            <a:endParaRPr lang="zh-CN" altLang="en-US" sz="1400" dirty="0"/>
          </a:p>
        </p:txBody>
      </p:sp>
      <p:sp>
        <p:nvSpPr>
          <p:cNvPr id="203" name="圆角矩形 202"/>
          <p:cNvSpPr/>
          <p:nvPr/>
        </p:nvSpPr>
        <p:spPr>
          <a:xfrm>
            <a:off x="4469781" y="3792163"/>
            <a:ext cx="1479209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4" name="直接连接符 203"/>
          <p:cNvCxnSpPr/>
          <p:nvPr/>
        </p:nvCxnSpPr>
        <p:spPr>
          <a:xfrm>
            <a:off x="5467578" y="379216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/>
          <p:cNvSpPr/>
          <p:nvPr/>
        </p:nvSpPr>
        <p:spPr>
          <a:xfrm>
            <a:off x="454508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21</a:t>
            </a:r>
            <a:endParaRPr lang="zh-CN" altLang="en-US" sz="1400" dirty="0"/>
          </a:p>
        </p:txBody>
      </p:sp>
      <p:sp>
        <p:nvSpPr>
          <p:cNvPr id="206" name="矩形 205"/>
          <p:cNvSpPr/>
          <p:nvPr/>
        </p:nvSpPr>
        <p:spPr>
          <a:xfrm>
            <a:off x="4998707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22</a:t>
            </a:r>
            <a:endParaRPr lang="zh-CN" altLang="en-US" sz="1400" dirty="0"/>
          </a:p>
        </p:txBody>
      </p:sp>
      <p:sp>
        <p:nvSpPr>
          <p:cNvPr id="207" name="矩形 206"/>
          <p:cNvSpPr/>
          <p:nvPr/>
        </p:nvSpPr>
        <p:spPr>
          <a:xfrm>
            <a:off x="5504333" y="3824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23</a:t>
            </a:r>
            <a:endParaRPr lang="zh-CN" altLang="en-US" sz="1400" dirty="0"/>
          </a:p>
        </p:txBody>
      </p:sp>
      <p:cxnSp>
        <p:nvCxnSpPr>
          <p:cNvPr id="208" name="直接连接符 207"/>
          <p:cNvCxnSpPr>
            <a:stCxn id="220" idx="2"/>
            <a:endCxn id="194" idx="0"/>
          </p:cNvCxnSpPr>
          <p:nvPr/>
        </p:nvCxnSpPr>
        <p:spPr>
          <a:xfrm>
            <a:off x="10099707" y="3012216"/>
            <a:ext cx="1093526" cy="790709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圆角矩形 208"/>
          <p:cNvSpPr/>
          <p:nvPr/>
        </p:nvSpPr>
        <p:spPr>
          <a:xfrm>
            <a:off x="6052967" y="1642373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0" name="直接连接符 209"/>
          <p:cNvCxnSpPr>
            <a:stCxn id="209" idx="0"/>
            <a:endCxn id="209" idx="2"/>
          </p:cNvCxnSpPr>
          <p:nvPr/>
        </p:nvCxnSpPr>
        <p:spPr>
          <a:xfrm>
            <a:off x="7010393" y="1642373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矩形 210"/>
          <p:cNvSpPr/>
          <p:nvPr/>
        </p:nvSpPr>
        <p:spPr>
          <a:xfrm>
            <a:off x="6095996" y="1674640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38</a:t>
            </a:r>
            <a:endParaRPr lang="zh-CN" altLang="en-US" sz="1400" dirty="0"/>
          </a:p>
        </p:txBody>
      </p:sp>
      <p:sp>
        <p:nvSpPr>
          <p:cNvPr id="212" name="矩形 211"/>
          <p:cNvSpPr/>
          <p:nvPr/>
        </p:nvSpPr>
        <p:spPr>
          <a:xfrm>
            <a:off x="7055246" y="1676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3" name="矩形 212"/>
          <p:cNvSpPr/>
          <p:nvPr/>
        </p:nvSpPr>
        <p:spPr>
          <a:xfrm>
            <a:off x="7496324" y="1676428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4" name="矩形 213"/>
          <p:cNvSpPr/>
          <p:nvPr/>
        </p:nvSpPr>
        <p:spPr>
          <a:xfrm>
            <a:off x="6540696" y="1667472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sp>
        <p:nvSpPr>
          <p:cNvPr id="215" name="圆角矩形 214"/>
          <p:cNvSpPr/>
          <p:nvPr/>
        </p:nvSpPr>
        <p:spPr>
          <a:xfrm>
            <a:off x="9398619" y="2621358"/>
            <a:ext cx="1914852" cy="4195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直接连接符 215"/>
          <p:cNvCxnSpPr>
            <a:stCxn id="215" idx="0"/>
            <a:endCxn id="215" idx="2"/>
          </p:cNvCxnSpPr>
          <p:nvPr/>
        </p:nvCxnSpPr>
        <p:spPr>
          <a:xfrm>
            <a:off x="10356045" y="2621358"/>
            <a:ext cx="0" cy="419542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矩形 216"/>
          <p:cNvSpPr/>
          <p:nvPr/>
        </p:nvSpPr>
        <p:spPr>
          <a:xfrm>
            <a:off x="9441648" y="2653625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57</a:t>
            </a:r>
            <a:endParaRPr lang="zh-CN" altLang="en-US" sz="1400" dirty="0"/>
          </a:p>
        </p:txBody>
      </p:sp>
      <p:sp>
        <p:nvSpPr>
          <p:cNvPr id="218" name="矩形 217"/>
          <p:cNvSpPr/>
          <p:nvPr/>
        </p:nvSpPr>
        <p:spPr>
          <a:xfrm>
            <a:off x="10400898" y="265541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9" name="矩形 218"/>
          <p:cNvSpPr/>
          <p:nvPr/>
        </p:nvSpPr>
        <p:spPr>
          <a:xfrm>
            <a:off x="10841976" y="2655413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20" name="矩形 219"/>
          <p:cNvSpPr/>
          <p:nvPr/>
        </p:nvSpPr>
        <p:spPr>
          <a:xfrm>
            <a:off x="9886348" y="2646457"/>
            <a:ext cx="426718" cy="3657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76</a:t>
            </a:r>
            <a:endParaRPr lang="zh-CN" altLang="en-US" sz="1400" dirty="0"/>
          </a:p>
        </p:txBody>
      </p:sp>
      <p:cxnSp>
        <p:nvCxnSpPr>
          <p:cNvPr id="221" name="直接连接符 220"/>
          <p:cNvCxnSpPr>
            <a:stCxn id="211" idx="2"/>
            <a:endCxn id="161" idx="0"/>
          </p:cNvCxnSpPr>
          <p:nvPr/>
        </p:nvCxnSpPr>
        <p:spPr>
          <a:xfrm flipH="1">
            <a:off x="4039397" y="2040399"/>
            <a:ext cx="2269958" cy="61143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stCxn id="214" idx="2"/>
            <a:endCxn id="215" idx="0"/>
          </p:cNvCxnSpPr>
          <p:nvPr/>
        </p:nvCxnSpPr>
        <p:spPr>
          <a:xfrm>
            <a:off x="6754055" y="2033231"/>
            <a:ext cx="3601990" cy="58812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/>
          <p:cNvSpPr/>
          <p:nvPr/>
        </p:nvSpPr>
        <p:spPr>
          <a:xfrm>
            <a:off x="562845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469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48982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943445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7" name="直接箭头连接符 226"/>
          <p:cNvCxnSpPr>
            <a:stCxn id="129" idx="2"/>
            <a:endCxn id="223" idx="0"/>
          </p:cNvCxnSpPr>
          <p:nvPr/>
        </p:nvCxnSpPr>
        <p:spPr>
          <a:xfrm flipH="1">
            <a:off x="760143" y="419018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/>
          <p:cNvCxnSpPr>
            <a:stCxn id="146" idx="2"/>
            <a:endCxn id="224" idx="0"/>
          </p:cNvCxnSpPr>
          <p:nvPr/>
        </p:nvCxnSpPr>
        <p:spPr>
          <a:xfrm flipH="1">
            <a:off x="1213767" y="4190187"/>
            <a:ext cx="3516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>
            <a:stCxn id="147" idx="2"/>
            <a:endCxn id="225" idx="0"/>
          </p:cNvCxnSpPr>
          <p:nvPr/>
        </p:nvCxnSpPr>
        <p:spPr>
          <a:xfrm flipH="1">
            <a:off x="1687119" y="419018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/>
          <p:cNvCxnSpPr>
            <a:stCxn id="154" idx="2"/>
            <a:endCxn id="226" idx="0"/>
          </p:cNvCxnSpPr>
          <p:nvPr/>
        </p:nvCxnSpPr>
        <p:spPr>
          <a:xfrm flipH="1">
            <a:off x="2140743" y="4190187"/>
            <a:ext cx="3517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2780725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3234349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3729217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4" name="直接箭头连接符 233"/>
          <p:cNvCxnSpPr>
            <a:stCxn id="176" idx="2"/>
            <a:endCxn id="231" idx="0"/>
          </p:cNvCxnSpPr>
          <p:nvPr/>
        </p:nvCxnSpPr>
        <p:spPr>
          <a:xfrm flipH="1">
            <a:off x="2978023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stCxn id="177" idx="2"/>
            <a:endCxn id="232" idx="0"/>
          </p:cNvCxnSpPr>
          <p:nvPr/>
        </p:nvCxnSpPr>
        <p:spPr>
          <a:xfrm flipH="1">
            <a:off x="3431647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>
            <a:stCxn id="179" idx="2"/>
            <a:endCxn id="233" idx="0"/>
          </p:cNvCxnSpPr>
          <p:nvPr/>
        </p:nvCxnSpPr>
        <p:spPr>
          <a:xfrm flipH="1">
            <a:off x="3926515" y="4190187"/>
            <a:ext cx="3561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 236"/>
          <p:cNvSpPr/>
          <p:nvPr/>
        </p:nvSpPr>
        <p:spPr>
          <a:xfrm>
            <a:off x="4566482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020106" y="4555954"/>
            <a:ext cx="394595" cy="69377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5525732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0" name="直接箭头连接符 239"/>
          <p:cNvCxnSpPr>
            <a:stCxn id="205" idx="2"/>
            <a:endCxn id="237" idx="0"/>
          </p:cNvCxnSpPr>
          <p:nvPr/>
        </p:nvCxnSpPr>
        <p:spPr>
          <a:xfrm>
            <a:off x="4758442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/>
          <p:cNvCxnSpPr>
            <a:stCxn id="206" idx="2"/>
            <a:endCxn id="238" idx="0"/>
          </p:cNvCxnSpPr>
          <p:nvPr/>
        </p:nvCxnSpPr>
        <p:spPr>
          <a:xfrm>
            <a:off x="5212066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/>
          <p:cNvCxnSpPr>
            <a:stCxn id="207" idx="2"/>
            <a:endCxn id="239" idx="0"/>
          </p:cNvCxnSpPr>
          <p:nvPr/>
        </p:nvCxnSpPr>
        <p:spPr>
          <a:xfrm>
            <a:off x="5717692" y="4190187"/>
            <a:ext cx="5338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矩形 242"/>
          <p:cNvSpPr/>
          <p:nvPr/>
        </p:nvSpPr>
        <p:spPr>
          <a:xfrm>
            <a:off x="6330730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6784354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7257706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711330" y="4555954"/>
            <a:ext cx="394595" cy="7045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47" name="直接箭头连接符 246"/>
          <p:cNvCxnSpPr>
            <a:stCxn id="157" idx="2"/>
            <a:endCxn id="243" idx="0"/>
          </p:cNvCxnSpPr>
          <p:nvPr/>
        </p:nvCxnSpPr>
        <p:spPr>
          <a:xfrm flipH="1">
            <a:off x="6528028" y="419018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/>
          <p:cNvCxnSpPr>
            <a:stCxn id="158" idx="2"/>
            <a:endCxn id="244" idx="0"/>
          </p:cNvCxnSpPr>
          <p:nvPr/>
        </p:nvCxnSpPr>
        <p:spPr>
          <a:xfrm flipH="1">
            <a:off x="6981652" y="4190187"/>
            <a:ext cx="3629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/>
          <p:cNvCxnSpPr>
            <a:stCxn id="159" idx="2"/>
            <a:endCxn id="245" idx="0"/>
          </p:cNvCxnSpPr>
          <p:nvPr/>
        </p:nvCxnSpPr>
        <p:spPr>
          <a:xfrm flipH="1">
            <a:off x="7455004" y="419018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>
            <a:stCxn id="160" idx="2"/>
            <a:endCxn id="246" idx="0"/>
          </p:cNvCxnSpPr>
          <p:nvPr/>
        </p:nvCxnSpPr>
        <p:spPr>
          <a:xfrm flipH="1">
            <a:off x="7908628" y="4190187"/>
            <a:ext cx="363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8546812" y="4555955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9011194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527578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54" name="直接箭头连接符 253"/>
          <p:cNvCxnSpPr>
            <a:stCxn id="188" idx="2"/>
            <a:endCxn id="251" idx="0"/>
          </p:cNvCxnSpPr>
          <p:nvPr/>
        </p:nvCxnSpPr>
        <p:spPr>
          <a:xfrm flipH="1">
            <a:off x="8744110" y="4190187"/>
            <a:ext cx="3568" cy="365768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>
            <a:stCxn id="189" idx="2"/>
            <a:endCxn id="252" idx="0"/>
          </p:cNvCxnSpPr>
          <p:nvPr/>
        </p:nvCxnSpPr>
        <p:spPr>
          <a:xfrm>
            <a:off x="9201302" y="419018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>
            <a:stCxn id="190" idx="2"/>
            <a:endCxn id="253" idx="0"/>
          </p:cNvCxnSpPr>
          <p:nvPr/>
        </p:nvCxnSpPr>
        <p:spPr>
          <a:xfrm>
            <a:off x="9717686" y="4190187"/>
            <a:ext cx="7190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 256"/>
          <p:cNvSpPr/>
          <p:nvPr/>
        </p:nvSpPr>
        <p:spPr>
          <a:xfrm>
            <a:off x="1030030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0753925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59551" y="4555954"/>
            <a:ext cx="394595" cy="7152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11713175" y="4555954"/>
            <a:ext cx="394595" cy="7260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Microsoft YaHei UI" pitchFamily="34" charset="-122"/>
                <a:ea typeface="Microsoft YaHei UI" pitchFamily="34" charset="-122"/>
              </a:rPr>
              <a:t>记录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61" name="直接箭头连接符 260"/>
          <p:cNvCxnSpPr>
            <a:stCxn id="196" idx="2"/>
            <a:endCxn id="257" idx="0"/>
          </p:cNvCxnSpPr>
          <p:nvPr/>
        </p:nvCxnSpPr>
        <p:spPr>
          <a:xfrm>
            <a:off x="10492195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/>
          <p:cNvCxnSpPr>
            <a:stCxn id="197" idx="2"/>
            <a:endCxn id="258" idx="0"/>
          </p:cNvCxnSpPr>
          <p:nvPr/>
        </p:nvCxnSpPr>
        <p:spPr>
          <a:xfrm>
            <a:off x="10945819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>
            <a:stCxn id="198" idx="2"/>
            <a:endCxn id="259" idx="0"/>
          </p:cNvCxnSpPr>
          <p:nvPr/>
        </p:nvCxnSpPr>
        <p:spPr>
          <a:xfrm>
            <a:off x="11451445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/>
          <p:cNvCxnSpPr>
            <a:stCxn id="200" idx="2"/>
            <a:endCxn id="260" idx="0"/>
          </p:cNvCxnSpPr>
          <p:nvPr/>
        </p:nvCxnSpPr>
        <p:spPr>
          <a:xfrm>
            <a:off x="11905069" y="4190187"/>
            <a:ext cx="5404" cy="36576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任意多边形 264"/>
          <p:cNvSpPr/>
          <p:nvPr/>
        </p:nvSpPr>
        <p:spPr>
          <a:xfrm>
            <a:off x="6056560" y="1258643"/>
            <a:ext cx="1043492" cy="451821"/>
          </a:xfrm>
          <a:custGeom>
            <a:avLst/>
            <a:gdLst>
              <a:gd name="connsiteX0" fmla="*/ 0 w 1111623"/>
              <a:gd name="connsiteY0" fmla="*/ 0 h 498437"/>
              <a:gd name="connsiteX1" fmla="*/ 387275 w 1111623"/>
              <a:gd name="connsiteY1" fmla="*/ 193638 h 498437"/>
              <a:gd name="connsiteX2" fmla="*/ 688489 w 1111623"/>
              <a:gd name="connsiteY2" fmla="*/ 96819 h 498437"/>
              <a:gd name="connsiteX3" fmla="*/ 1054249 w 1111623"/>
              <a:gd name="connsiteY3" fmla="*/ 441063 h 498437"/>
              <a:gd name="connsiteX4" fmla="*/ 1032734 w 1111623"/>
              <a:gd name="connsiteY4" fmla="*/ 441063 h 498437"/>
              <a:gd name="connsiteX5" fmla="*/ 1032734 w 1111623"/>
              <a:gd name="connsiteY5" fmla="*/ 441063 h 49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1623" h="498437">
                <a:moveTo>
                  <a:pt x="0" y="0"/>
                </a:moveTo>
                <a:cubicBezTo>
                  <a:pt x="136263" y="88751"/>
                  <a:pt x="272527" y="177502"/>
                  <a:pt x="387275" y="193638"/>
                </a:cubicBezTo>
                <a:cubicBezTo>
                  <a:pt x="502023" y="209775"/>
                  <a:pt x="577327" y="55582"/>
                  <a:pt x="688489" y="96819"/>
                </a:cubicBezTo>
                <a:cubicBezTo>
                  <a:pt x="799651" y="138056"/>
                  <a:pt x="996875" y="383689"/>
                  <a:pt x="1054249" y="441063"/>
                </a:cubicBezTo>
                <a:cubicBezTo>
                  <a:pt x="1111623" y="498437"/>
                  <a:pt x="1032734" y="441063"/>
                  <a:pt x="1032734" y="441063"/>
                </a:cubicBezTo>
                <a:lnTo>
                  <a:pt x="1032734" y="441063"/>
                </a:lnTo>
              </a:path>
            </a:pathLst>
          </a:cu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任意多边形 265"/>
          <p:cNvSpPr/>
          <p:nvPr/>
        </p:nvSpPr>
        <p:spPr>
          <a:xfrm>
            <a:off x="191847" y="3195018"/>
            <a:ext cx="453613" cy="828339"/>
          </a:xfrm>
          <a:custGeom>
            <a:avLst/>
            <a:gdLst>
              <a:gd name="connsiteX0" fmla="*/ 539674 w 539674"/>
              <a:gd name="connsiteY0" fmla="*/ 0 h 874956"/>
              <a:gd name="connsiteX1" fmla="*/ 313764 w 539674"/>
              <a:gd name="connsiteY1" fmla="*/ 333487 h 874956"/>
              <a:gd name="connsiteX2" fmla="*/ 12550 w 539674"/>
              <a:gd name="connsiteY2" fmla="*/ 548640 h 874956"/>
              <a:gd name="connsiteX3" fmla="*/ 389067 w 539674"/>
              <a:gd name="connsiteY3" fmla="*/ 828339 h 874956"/>
              <a:gd name="connsiteX4" fmla="*/ 442856 w 539674"/>
              <a:gd name="connsiteY4" fmla="*/ 828339 h 8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674" h="874956">
                <a:moveTo>
                  <a:pt x="539674" y="0"/>
                </a:moveTo>
                <a:cubicBezTo>
                  <a:pt x="470646" y="121023"/>
                  <a:pt x="401618" y="242047"/>
                  <a:pt x="313764" y="333487"/>
                </a:cubicBezTo>
                <a:cubicBezTo>
                  <a:pt x="225910" y="424927"/>
                  <a:pt x="0" y="466165"/>
                  <a:pt x="12550" y="548640"/>
                </a:cubicBezTo>
                <a:cubicBezTo>
                  <a:pt x="25100" y="631115"/>
                  <a:pt x="317349" y="781723"/>
                  <a:pt x="389067" y="828339"/>
                </a:cubicBezTo>
                <a:cubicBezTo>
                  <a:pt x="460785" y="874956"/>
                  <a:pt x="442856" y="828339"/>
                  <a:pt x="442856" y="8283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7" name="TextBox 266"/>
          <p:cNvSpPr txBox="1"/>
          <p:nvPr/>
        </p:nvSpPr>
        <p:spPr>
          <a:xfrm>
            <a:off x="5540192" y="1054246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</a:rPr>
              <a:t>root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410587" y="2884839"/>
            <a:ext cx="72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cxnSp>
        <p:nvCxnSpPr>
          <p:cNvPr id="269" name="直接连接符 268"/>
          <p:cNvCxnSpPr>
            <a:stCxn id="154" idx="3"/>
            <a:endCxn id="176" idx="1"/>
          </p:cNvCxnSpPr>
          <p:nvPr/>
        </p:nvCxnSpPr>
        <p:spPr>
          <a:xfrm>
            <a:off x="2357619" y="4007308"/>
            <a:ext cx="41060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>
            <a:stCxn id="179" idx="3"/>
            <a:endCxn id="205" idx="1"/>
          </p:cNvCxnSpPr>
          <p:nvPr/>
        </p:nvCxnSpPr>
        <p:spPr>
          <a:xfrm>
            <a:off x="4143435" y="4007308"/>
            <a:ext cx="401648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>
            <a:stCxn id="207" idx="3"/>
            <a:endCxn id="157" idx="1"/>
          </p:cNvCxnSpPr>
          <p:nvPr/>
        </p:nvCxnSpPr>
        <p:spPr>
          <a:xfrm>
            <a:off x="5931051" y="4007308"/>
            <a:ext cx="38724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/>
          <p:cNvCxnSpPr>
            <a:stCxn id="160" idx="3"/>
            <a:endCxn id="188" idx="1"/>
          </p:cNvCxnSpPr>
          <p:nvPr/>
        </p:nvCxnSpPr>
        <p:spPr>
          <a:xfrm>
            <a:off x="8125617" y="4007308"/>
            <a:ext cx="408702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>
            <a:stCxn id="190" idx="3"/>
            <a:endCxn id="196" idx="1"/>
          </p:cNvCxnSpPr>
          <p:nvPr/>
        </p:nvCxnSpPr>
        <p:spPr>
          <a:xfrm>
            <a:off x="9931045" y="4007308"/>
            <a:ext cx="34779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70152" y="5378857"/>
            <a:ext cx="111556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）所有叶结点中包含了全部关键字和关键字指向记录的指针，叶结点内的关键字有序排列，叶结点之间也是有序排列，指针相连。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）所有非终端结点可以看成是索引，仅包含了其子树中最大（或最小）关键字的值。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树的考研真题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3027" y="1349188"/>
            <a:ext cx="8373707" cy="292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549101" y="4303092"/>
            <a:ext cx="9552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树在文件系统中应用比较广泛，还有关系型数据库中也用得比较多，比如说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数据库的索引用的就是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树，但是，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MySQL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数据库的性能也不行，比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差远了。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树与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树的差异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38197" y="1374821"/>
            <a:ext cx="102434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树的差异（以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阶为例）：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树由分块查找进化而来；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树由二叉排序树进化而来。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树中，每个非根结点关键字的取值范围是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棵子树；在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树中，每个非根结点关键字的取值范围是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棵子树。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树中，仅叶结点包含信息，非叶结点只起索引作用；在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树中，全部结点的关键字都包含信息。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树中，叶结点包含了全部的关键字，非叶结点中出现的关键字一定会出现在叶结点中；在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树中，任何结点中的关键字都不会重复。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树支持顺序查找和多路查找；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树只支持多路查找。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树中，查找成功或失败都会到达最下一层；而在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树中，查找成功时，可能停在任何一层结点。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0" y="14114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59" y="828250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5" y="830038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1" y="831826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1" y="830038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7" y="831826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5" y="833614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4984" y="1298036"/>
            <a:ext cx="4924425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68323" y="1305095"/>
            <a:ext cx="29241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4372" y="5852159"/>
            <a:ext cx="87979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b="1" dirty="0" smtClean="0">
              <a:latin typeface="Microsoft YaHei UI" pitchFamily="34" charset="-122"/>
              <a:ea typeface="Microsoft YaHei UI" pitchFamily="34" charset="-122"/>
            </a:endParaRPr>
          </a:p>
          <a:p>
            <a:r>
              <a:rPr lang="en-US" altLang="zh-CN" sz="1700" b="1" dirty="0" smtClean="0">
                <a:latin typeface="Microsoft YaHei UI" pitchFamily="34" charset="-122"/>
                <a:ea typeface="Microsoft YaHei UI" pitchFamily="34" charset="-122"/>
              </a:rPr>
              <a:t>                              </a:t>
            </a:r>
            <a:r>
              <a:rPr lang="zh-CN" altLang="en-US" sz="1600" b="1" dirty="0" smtClean="0">
                <a:latin typeface="Microsoft YaHei UI" pitchFamily="34" charset="-122"/>
                <a:ea typeface="Microsoft YaHei UI" pitchFamily="34" charset="-122"/>
              </a:rPr>
              <a:t>其它算法                                                                       散列算法</a:t>
            </a:r>
            <a:endParaRPr lang="en-US" altLang="zh-CN" sz="1700" b="1" dirty="0" smtClean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216075" y="1593950"/>
            <a:ext cx="786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{0,1,2,3,4,5,6,7,8,9}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，按关键字的值存入结构体数组中。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4915" y="3976062"/>
            <a:ext cx="37909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863819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12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13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14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18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79407" y="1593950"/>
            <a:ext cx="9047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{10,11,12,13,14,15,16,17,18,19}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，把关键字的值减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后再存入结构体数组中。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863819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key-10;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72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53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64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95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38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593950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{72,64,80,53,11,95,46,9,38,27}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，把关键字的值除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取余数后再存入结构体数组中。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80</a:t>
            </a:r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863819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key%10;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593950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{80,11,72,53,64,5,33,56,77,61,86,88,91,93,95,46,27,38,9}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，把关键字的值除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取余数后再存入数组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3119715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35" name="直接连接符 34"/>
          <p:cNvCxnSpPr>
            <a:stCxn id="31" idx="2"/>
            <a:endCxn id="36" idx="0"/>
          </p:cNvCxnSpPr>
          <p:nvPr/>
        </p:nvCxnSpPr>
        <p:spPr>
          <a:xfrm>
            <a:off x="3220070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997693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3119715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8" name="直接连接符 47"/>
          <p:cNvCxnSpPr>
            <a:stCxn id="47" idx="2"/>
            <a:endCxn id="49" idx="0"/>
          </p:cNvCxnSpPr>
          <p:nvPr/>
        </p:nvCxnSpPr>
        <p:spPr>
          <a:xfrm>
            <a:off x="3813533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591156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0" name="直接连接符 49"/>
          <p:cNvCxnSpPr>
            <a:stCxn id="49" idx="2"/>
            <a:endCxn id="51" idx="0"/>
          </p:cNvCxnSpPr>
          <p:nvPr/>
        </p:nvCxnSpPr>
        <p:spPr>
          <a:xfrm>
            <a:off x="3813533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592948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2" name="直接连接符 51"/>
          <p:cNvCxnSpPr>
            <a:stCxn id="51" idx="2"/>
            <a:endCxn id="53" idx="0"/>
          </p:cNvCxnSpPr>
          <p:nvPr/>
        </p:nvCxnSpPr>
        <p:spPr>
          <a:xfrm>
            <a:off x="3815325" y="5134973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3592948" y="545421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4" name="直接连接符 53"/>
          <p:cNvCxnSpPr>
            <a:stCxn id="122" idx="2"/>
            <a:endCxn id="55" idx="0"/>
          </p:cNvCxnSpPr>
          <p:nvPr/>
        </p:nvCxnSpPr>
        <p:spPr>
          <a:xfrm flipH="1">
            <a:off x="4394446" y="3119715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172069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6" name="直接连接符 55"/>
          <p:cNvCxnSpPr>
            <a:stCxn id="55" idx="2"/>
            <a:endCxn id="57" idx="0"/>
          </p:cNvCxnSpPr>
          <p:nvPr/>
        </p:nvCxnSpPr>
        <p:spPr>
          <a:xfrm>
            <a:off x="4394446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172069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3067718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4" name="直接连接符 63"/>
          <p:cNvCxnSpPr>
            <a:stCxn id="63" idx="2"/>
            <a:endCxn id="65" idx="0"/>
          </p:cNvCxnSpPr>
          <p:nvPr/>
        </p:nvCxnSpPr>
        <p:spPr>
          <a:xfrm>
            <a:off x="5029147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806770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6" name="直接连接符 65"/>
          <p:cNvCxnSpPr>
            <a:stCxn id="65" idx="2"/>
            <a:endCxn id="67" idx="0"/>
          </p:cNvCxnSpPr>
          <p:nvPr/>
        </p:nvCxnSpPr>
        <p:spPr>
          <a:xfrm>
            <a:off x="5029147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808562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8" name="直接连接符 67"/>
          <p:cNvCxnSpPr>
            <a:stCxn id="67" idx="2"/>
            <a:endCxn id="69" idx="0"/>
          </p:cNvCxnSpPr>
          <p:nvPr/>
        </p:nvCxnSpPr>
        <p:spPr>
          <a:xfrm>
            <a:off x="5030939" y="5134973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4808562" y="545421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3119715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2" name="直接连接符 71"/>
          <p:cNvCxnSpPr>
            <a:stCxn id="71" idx="2"/>
            <a:endCxn id="73" idx="0"/>
          </p:cNvCxnSpPr>
          <p:nvPr/>
        </p:nvCxnSpPr>
        <p:spPr>
          <a:xfrm>
            <a:off x="5577786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355409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3119715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0" name="直接连接符 119"/>
          <p:cNvCxnSpPr>
            <a:stCxn id="119" idx="2"/>
            <a:endCxn id="125" idx="0"/>
          </p:cNvCxnSpPr>
          <p:nvPr/>
        </p:nvCxnSpPr>
        <p:spPr>
          <a:xfrm>
            <a:off x="6169457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947080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9" name="直接连接符 128"/>
          <p:cNvCxnSpPr>
            <a:stCxn id="125" idx="2"/>
            <a:endCxn id="144" idx="0"/>
          </p:cNvCxnSpPr>
          <p:nvPr/>
        </p:nvCxnSpPr>
        <p:spPr>
          <a:xfrm>
            <a:off x="6169457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/>
          <p:cNvSpPr/>
          <p:nvPr/>
        </p:nvSpPr>
        <p:spPr>
          <a:xfrm>
            <a:off x="5948872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3119715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9" name="直接连接符 148"/>
          <p:cNvCxnSpPr>
            <a:stCxn id="148" idx="2"/>
            <a:endCxn id="150" idx="0"/>
          </p:cNvCxnSpPr>
          <p:nvPr/>
        </p:nvCxnSpPr>
        <p:spPr>
          <a:xfrm>
            <a:off x="6762920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6540543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1" name="直接连接符 150"/>
          <p:cNvCxnSpPr>
            <a:stCxn id="150" idx="2"/>
            <a:endCxn id="152" idx="0"/>
          </p:cNvCxnSpPr>
          <p:nvPr/>
        </p:nvCxnSpPr>
        <p:spPr>
          <a:xfrm>
            <a:off x="6762920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6542335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3119715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7" name="直接连接符 156"/>
          <p:cNvCxnSpPr>
            <a:stCxn id="156" idx="2"/>
            <a:endCxn id="158" idx="0"/>
          </p:cNvCxnSpPr>
          <p:nvPr/>
        </p:nvCxnSpPr>
        <p:spPr>
          <a:xfrm>
            <a:off x="7343833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7121456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9" name="直接连接符 158"/>
          <p:cNvCxnSpPr>
            <a:stCxn id="158" idx="2"/>
            <a:endCxn id="160" idx="0"/>
          </p:cNvCxnSpPr>
          <p:nvPr/>
        </p:nvCxnSpPr>
        <p:spPr>
          <a:xfrm>
            <a:off x="7343833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/>
        </p:nvSpPr>
        <p:spPr>
          <a:xfrm>
            <a:off x="7123248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3" name="直接连接符 162"/>
          <p:cNvCxnSpPr>
            <a:stCxn id="130" idx="2"/>
            <a:endCxn id="164" idx="0"/>
          </p:cNvCxnSpPr>
          <p:nvPr/>
        </p:nvCxnSpPr>
        <p:spPr>
          <a:xfrm>
            <a:off x="7928047" y="3119715"/>
            <a:ext cx="745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7713125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5" name="直接连接符 164"/>
          <p:cNvCxnSpPr>
            <a:stCxn id="164" idx="2"/>
            <a:endCxn id="166" idx="0"/>
          </p:cNvCxnSpPr>
          <p:nvPr/>
        </p:nvCxnSpPr>
        <p:spPr>
          <a:xfrm>
            <a:off x="7935502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7713125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7" name="直接连接符 166"/>
          <p:cNvCxnSpPr>
            <a:stCxn id="166" idx="2"/>
            <a:endCxn id="168" idx="0"/>
          </p:cNvCxnSpPr>
          <p:nvPr/>
        </p:nvCxnSpPr>
        <p:spPr>
          <a:xfrm>
            <a:off x="7935502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7714917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3119715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3" name="直接连接符 172"/>
          <p:cNvCxnSpPr>
            <a:stCxn id="172" idx="2"/>
            <a:endCxn id="174" idx="0"/>
          </p:cNvCxnSpPr>
          <p:nvPr/>
        </p:nvCxnSpPr>
        <p:spPr>
          <a:xfrm>
            <a:off x="8516415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矩形 173"/>
          <p:cNvSpPr/>
          <p:nvPr/>
        </p:nvSpPr>
        <p:spPr>
          <a:xfrm>
            <a:off x="8294038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433016" y="5888052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）可以用链表，也可以用二叉排序树。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）链表可以带头结点，也可以不带头结点，排序可提高查找的效率。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863819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key%10;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^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^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43492" y="1593950"/>
            <a:ext cx="9929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褒姒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”,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“妲已”，“骊姬”，“宣姜”，“夏姬”，“西施”，“赵姬”，“昭君”，“环环”，“圆圆”，“冰冰”，“幂幂”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码加起来的值除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取余数后再存入数组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89923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605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3388665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褒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35" name="直接连接符 34"/>
          <p:cNvCxnSpPr>
            <a:stCxn id="31" idx="2"/>
            <a:endCxn id="36" idx="0"/>
          </p:cNvCxnSpPr>
          <p:nvPr/>
        </p:nvCxnSpPr>
        <p:spPr>
          <a:xfrm>
            <a:off x="3220070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997693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3388665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环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8" name="直接连接符 47"/>
          <p:cNvCxnSpPr>
            <a:stCxn id="47" idx="2"/>
            <a:endCxn id="49" idx="0"/>
          </p:cNvCxnSpPr>
          <p:nvPr/>
        </p:nvCxnSpPr>
        <p:spPr>
          <a:xfrm>
            <a:off x="3813533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591156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3336668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妲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4" name="直接连接符 63"/>
          <p:cNvCxnSpPr>
            <a:stCxn id="63" idx="2"/>
            <a:endCxn id="65" idx="0"/>
          </p:cNvCxnSpPr>
          <p:nvPr/>
        </p:nvCxnSpPr>
        <p:spPr>
          <a:xfrm>
            <a:off x="5029147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806770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宣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6" name="直接连接符 65"/>
          <p:cNvCxnSpPr>
            <a:stCxn id="65" idx="2"/>
            <a:endCxn id="67" idx="0"/>
          </p:cNvCxnSpPr>
          <p:nvPr/>
        </p:nvCxnSpPr>
        <p:spPr>
          <a:xfrm>
            <a:off x="5029147" y="474772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808562" y="504363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冰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8" name="直接连接符 67"/>
          <p:cNvCxnSpPr>
            <a:stCxn id="67" idx="2"/>
            <a:endCxn id="69" idx="0"/>
          </p:cNvCxnSpPr>
          <p:nvPr/>
        </p:nvCxnSpPr>
        <p:spPr>
          <a:xfrm>
            <a:off x="5030939" y="5403923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4808562" y="572316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3388665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西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2" name="直接连接符 71"/>
          <p:cNvCxnSpPr>
            <a:stCxn id="71" idx="2"/>
            <a:endCxn id="73" idx="0"/>
          </p:cNvCxnSpPr>
          <p:nvPr/>
        </p:nvCxnSpPr>
        <p:spPr>
          <a:xfrm>
            <a:off x="5577786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355409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3388665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骊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0" name="直接连接符 119"/>
          <p:cNvCxnSpPr>
            <a:stCxn id="119" idx="2"/>
            <a:endCxn id="125" idx="0"/>
          </p:cNvCxnSpPr>
          <p:nvPr/>
        </p:nvCxnSpPr>
        <p:spPr>
          <a:xfrm>
            <a:off x="6169457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947080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3388665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幂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9" name="直接连接符 148"/>
          <p:cNvCxnSpPr>
            <a:stCxn id="148" idx="2"/>
            <a:endCxn id="150" idx="0"/>
          </p:cNvCxnSpPr>
          <p:nvPr/>
        </p:nvCxnSpPr>
        <p:spPr>
          <a:xfrm>
            <a:off x="6762920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6540543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3388665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赵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7" name="直接连接符 156"/>
          <p:cNvCxnSpPr>
            <a:stCxn id="156" idx="2"/>
            <a:endCxn id="158" idx="0"/>
          </p:cNvCxnSpPr>
          <p:nvPr/>
        </p:nvCxnSpPr>
        <p:spPr>
          <a:xfrm>
            <a:off x="7343833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7121456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昭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9" name="直接连接符 158"/>
          <p:cNvCxnSpPr>
            <a:stCxn id="158" idx="2"/>
            <a:endCxn id="160" idx="0"/>
          </p:cNvCxnSpPr>
          <p:nvPr/>
        </p:nvCxnSpPr>
        <p:spPr>
          <a:xfrm>
            <a:off x="7343833" y="474772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/>
        </p:nvSpPr>
        <p:spPr>
          <a:xfrm>
            <a:off x="7123248" y="504363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3388665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圆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3" name="直接连接符 172"/>
          <p:cNvCxnSpPr>
            <a:stCxn id="172" idx="2"/>
            <a:endCxn id="174" idx="0"/>
          </p:cNvCxnSpPr>
          <p:nvPr/>
        </p:nvCxnSpPr>
        <p:spPr>
          <a:xfrm>
            <a:off x="8516415" y="407894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矩形 173"/>
          <p:cNvSpPr/>
          <p:nvPr/>
        </p:nvSpPr>
        <p:spPr>
          <a:xfrm>
            <a:off x="8294038" y="438743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6" name="直接连接符 85"/>
          <p:cNvCxnSpPr>
            <a:stCxn id="122" idx="2"/>
            <a:endCxn id="87" idx="0"/>
          </p:cNvCxnSpPr>
          <p:nvPr/>
        </p:nvCxnSpPr>
        <p:spPr>
          <a:xfrm>
            <a:off x="4400011" y="3388665"/>
            <a:ext cx="7000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4184634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8" name="直接连接符 87"/>
          <p:cNvCxnSpPr>
            <a:stCxn id="130" idx="2"/>
            <a:endCxn id="89" idx="0"/>
          </p:cNvCxnSpPr>
          <p:nvPr/>
        </p:nvCxnSpPr>
        <p:spPr>
          <a:xfrm flipH="1">
            <a:off x="7924746" y="3388665"/>
            <a:ext cx="3301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7702369" y="371865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57940" y="4487762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key%10;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43491" y="1335758"/>
            <a:ext cx="103165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散列（</a:t>
            </a:r>
            <a:r>
              <a:rPr lang="en-US" altLang="zh-CN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 Table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，这种数据结构的特点是：数据元素的关键字和它在表中的存储地址直接相关。关键字与存储地址对应关系的函数称为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Address=Hash(key) 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）哈希是一种以常数平均时间执行插入、删除和查找的技术，但是，不支持元素排序和查找最小（大）值的操作。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）哈希函数是一种映射关系，很灵活，任何关键字通过它的计算，返回的值都落在表长允许的范围之内即可。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）对于不同的关键字，可能得到相同的哈希地址，这种现象称为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；哈希地址相同的关键字称为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同义词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）处理冲突的方法有四种：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再散列法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和建立公共溢出区。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5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）哈希表的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装填因子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（表中记录数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表长）越大，关键字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的可能性越大，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同义词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越多，查找效率可能更低。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散列表的效率分析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131356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{80,11,72,53,64,5,33,56,77,61,86,88,91,93,95,46,27,38,48}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，把关键字的值除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取余数后再存入数组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2657121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35" name="直接连接符 34"/>
          <p:cNvCxnSpPr>
            <a:stCxn id="31" idx="2"/>
            <a:endCxn id="36" idx="0"/>
          </p:cNvCxnSpPr>
          <p:nvPr/>
        </p:nvCxnSpPr>
        <p:spPr>
          <a:xfrm>
            <a:off x="3220070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997693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265712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8" name="直接连接符 47"/>
          <p:cNvCxnSpPr>
            <a:stCxn id="47" idx="2"/>
            <a:endCxn id="49" idx="0"/>
          </p:cNvCxnSpPr>
          <p:nvPr/>
        </p:nvCxnSpPr>
        <p:spPr>
          <a:xfrm>
            <a:off x="3813533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591156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0" name="直接连接符 49"/>
          <p:cNvCxnSpPr>
            <a:stCxn id="49" idx="2"/>
            <a:endCxn id="51" idx="0"/>
          </p:cNvCxnSpPr>
          <p:nvPr/>
        </p:nvCxnSpPr>
        <p:spPr>
          <a:xfrm>
            <a:off x="3813533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592948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2" name="直接连接符 51"/>
          <p:cNvCxnSpPr>
            <a:stCxn id="51" idx="2"/>
            <a:endCxn id="53" idx="0"/>
          </p:cNvCxnSpPr>
          <p:nvPr/>
        </p:nvCxnSpPr>
        <p:spPr>
          <a:xfrm>
            <a:off x="3815325" y="4672379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3592948" y="499162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4" name="直接连接符 53"/>
          <p:cNvCxnSpPr>
            <a:stCxn id="122" idx="2"/>
            <a:endCxn id="55" idx="0"/>
          </p:cNvCxnSpPr>
          <p:nvPr/>
        </p:nvCxnSpPr>
        <p:spPr>
          <a:xfrm flipH="1">
            <a:off x="4394446" y="2657121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17206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6" name="直接连接符 55"/>
          <p:cNvCxnSpPr>
            <a:stCxn id="55" idx="2"/>
            <a:endCxn id="57" idx="0"/>
          </p:cNvCxnSpPr>
          <p:nvPr/>
        </p:nvCxnSpPr>
        <p:spPr>
          <a:xfrm>
            <a:off x="4394446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172069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2605124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4" name="直接连接符 63"/>
          <p:cNvCxnSpPr>
            <a:stCxn id="63" idx="2"/>
            <a:endCxn id="65" idx="0"/>
          </p:cNvCxnSpPr>
          <p:nvPr/>
        </p:nvCxnSpPr>
        <p:spPr>
          <a:xfrm>
            <a:off x="5029147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806770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6" name="直接连接符 65"/>
          <p:cNvCxnSpPr>
            <a:stCxn id="65" idx="2"/>
            <a:endCxn id="67" idx="0"/>
          </p:cNvCxnSpPr>
          <p:nvPr/>
        </p:nvCxnSpPr>
        <p:spPr>
          <a:xfrm>
            <a:off x="5029147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808562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8" name="直接连接符 67"/>
          <p:cNvCxnSpPr>
            <a:stCxn id="67" idx="2"/>
            <a:endCxn id="69" idx="0"/>
          </p:cNvCxnSpPr>
          <p:nvPr/>
        </p:nvCxnSpPr>
        <p:spPr>
          <a:xfrm>
            <a:off x="5030939" y="4672379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4808562" y="499162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2657121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2" name="直接连接符 71"/>
          <p:cNvCxnSpPr>
            <a:stCxn id="71" idx="2"/>
            <a:endCxn id="73" idx="0"/>
          </p:cNvCxnSpPr>
          <p:nvPr/>
        </p:nvCxnSpPr>
        <p:spPr>
          <a:xfrm>
            <a:off x="5577786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355409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2657121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0" name="直接连接符 119"/>
          <p:cNvCxnSpPr>
            <a:stCxn id="119" idx="2"/>
            <a:endCxn id="125" idx="0"/>
          </p:cNvCxnSpPr>
          <p:nvPr/>
        </p:nvCxnSpPr>
        <p:spPr>
          <a:xfrm>
            <a:off x="6169457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947080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9" name="直接连接符 128"/>
          <p:cNvCxnSpPr>
            <a:stCxn id="125" idx="2"/>
            <a:endCxn id="144" idx="0"/>
          </p:cNvCxnSpPr>
          <p:nvPr/>
        </p:nvCxnSpPr>
        <p:spPr>
          <a:xfrm>
            <a:off x="6169457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/>
          <p:cNvSpPr/>
          <p:nvPr/>
        </p:nvSpPr>
        <p:spPr>
          <a:xfrm>
            <a:off x="5948872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2657121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9" name="直接连接符 148"/>
          <p:cNvCxnSpPr>
            <a:stCxn id="148" idx="2"/>
            <a:endCxn id="150" idx="0"/>
          </p:cNvCxnSpPr>
          <p:nvPr/>
        </p:nvCxnSpPr>
        <p:spPr>
          <a:xfrm>
            <a:off x="6762920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6540543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1" name="直接连接符 150"/>
          <p:cNvCxnSpPr>
            <a:stCxn id="150" idx="2"/>
            <a:endCxn id="152" idx="0"/>
          </p:cNvCxnSpPr>
          <p:nvPr/>
        </p:nvCxnSpPr>
        <p:spPr>
          <a:xfrm>
            <a:off x="6762920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6542335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2657121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7" name="直接连接符 156"/>
          <p:cNvCxnSpPr>
            <a:stCxn id="156" idx="2"/>
            <a:endCxn id="158" idx="0"/>
          </p:cNvCxnSpPr>
          <p:nvPr/>
        </p:nvCxnSpPr>
        <p:spPr>
          <a:xfrm>
            <a:off x="7343833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7121456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9" name="直接连接符 158"/>
          <p:cNvCxnSpPr>
            <a:stCxn id="158" idx="2"/>
            <a:endCxn id="160" idx="0"/>
          </p:cNvCxnSpPr>
          <p:nvPr/>
        </p:nvCxnSpPr>
        <p:spPr>
          <a:xfrm>
            <a:off x="7343833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/>
        </p:nvSpPr>
        <p:spPr>
          <a:xfrm>
            <a:off x="7123248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3" name="直接连接符 162"/>
          <p:cNvCxnSpPr>
            <a:stCxn id="130" idx="2"/>
            <a:endCxn id="164" idx="0"/>
          </p:cNvCxnSpPr>
          <p:nvPr/>
        </p:nvCxnSpPr>
        <p:spPr>
          <a:xfrm>
            <a:off x="7928047" y="2657121"/>
            <a:ext cx="745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7713125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5" name="直接连接符 164"/>
          <p:cNvCxnSpPr>
            <a:stCxn id="164" idx="2"/>
            <a:endCxn id="166" idx="0"/>
          </p:cNvCxnSpPr>
          <p:nvPr/>
        </p:nvCxnSpPr>
        <p:spPr>
          <a:xfrm>
            <a:off x="7935502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7713125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7" name="直接连接符 166"/>
          <p:cNvCxnSpPr>
            <a:stCxn id="166" idx="2"/>
            <a:endCxn id="168" idx="0"/>
          </p:cNvCxnSpPr>
          <p:nvPr/>
        </p:nvCxnSpPr>
        <p:spPr>
          <a:xfrm>
            <a:off x="7935502" y="4016180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7714917" y="43120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2657121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433016" y="5425458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=(9*1+6*2+4*3)/19=1.74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=(1+3+1+3+1+2+3+2+3+0)/10=1.9=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装填因子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401225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key%10;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cxnSp>
        <p:nvCxnSpPr>
          <p:cNvPr id="88" name="直接连接符 87"/>
          <p:cNvCxnSpPr>
            <a:endCxn id="89" idx="0"/>
          </p:cNvCxnSpPr>
          <p:nvPr/>
        </p:nvCxnSpPr>
        <p:spPr>
          <a:xfrm>
            <a:off x="6775523" y="4652651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6553146" y="4971893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90" name="直接连接符 89"/>
          <p:cNvCxnSpPr>
            <a:endCxn id="91" idx="0"/>
          </p:cNvCxnSpPr>
          <p:nvPr/>
        </p:nvCxnSpPr>
        <p:spPr>
          <a:xfrm>
            <a:off x="7949933" y="4654439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7727556" y="4973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131356"/>
            <a:ext cx="8240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{10,15,20,25,30,35,40,45,50}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Address=Hash(key)=key%10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2657121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35" name="直接连接符 34"/>
          <p:cNvCxnSpPr>
            <a:stCxn id="31" idx="2"/>
            <a:endCxn id="36" idx="0"/>
          </p:cNvCxnSpPr>
          <p:nvPr/>
        </p:nvCxnSpPr>
        <p:spPr>
          <a:xfrm>
            <a:off x="3220070" y="3347404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997693" y="365588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265712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4" name="直接连接符 53"/>
          <p:cNvCxnSpPr>
            <a:stCxn id="122" idx="2"/>
            <a:endCxn id="55" idx="0"/>
          </p:cNvCxnSpPr>
          <p:nvPr/>
        </p:nvCxnSpPr>
        <p:spPr>
          <a:xfrm flipH="1">
            <a:off x="4394446" y="2657121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17206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2605124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2657121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2657121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2657121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2657121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3" name="直接连接符 162"/>
          <p:cNvCxnSpPr>
            <a:stCxn id="130" idx="2"/>
            <a:endCxn id="164" idx="0"/>
          </p:cNvCxnSpPr>
          <p:nvPr/>
        </p:nvCxnSpPr>
        <p:spPr>
          <a:xfrm>
            <a:off x="7928047" y="2657121"/>
            <a:ext cx="745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7713125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2657121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0" name="直接连接符 99"/>
          <p:cNvCxnSpPr>
            <a:endCxn id="101" idx="0"/>
          </p:cNvCxnSpPr>
          <p:nvPr/>
        </p:nvCxnSpPr>
        <p:spPr>
          <a:xfrm>
            <a:off x="3222127" y="4003620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3001278" y="433361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2" name="直接连接符 101"/>
          <p:cNvCxnSpPr>
            <a:stCxn id="101" idx="2"/>
            <a:endCxn id="103" idx="0"/>
          </p:cNvCxnSpPr>
          <p:nvPr/>
        </p:nvCxnSpPr>
        <p:spPr>
          <a:xfrm>
            <a:off x="3223655" y="4693903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3001278" y="5002387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4" name="直接连接符 103"/>
          <p:cNvCxnSpPr>
            <a:stCxn id="103" idx="2"/>
            <a:endCxn id="105" idx="0"/>
          </p:cNvCxnSpPr>
          <p:nvPr/>
        </p:nvCxnSpPr>
        <p:spPr>
          <a:xfrm>
            <a:off x="3223655" y="5362679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3003070" y="565858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6" name="直接连接符 105"/>
          <p:cNvCxnSpPr>
            <a:stCxn id="105" idx="2"/>
            <a:endCxn id="107" idx="0"/>
          </p:cNvCxnSpPr>
          <p:nvPr/>
        </p:nvCxnSpPr>
        <p:spPr>
          <a:xfrm>
            <a:off x="3225447" y="6018878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3003070" y="6338120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8" name="直接连接符 107"/>
          <p:cNvCxnSpPr>
            <a:endCxn id="109" idx="0"/>
          </p:cNvCxnSpPr>
          <p:nvPr/>
        </p:nvCxnSpPr>
        <p:spPr>
          <a:xfrm>
            <a:off x="6190973" y="3349197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5968596" y="3657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0" name="直接连接符 109"/>
          <p:cNvCxnSpPr>
            <a:endCxn id="111" idx="0"/>
          </p:cNvCxnSpPr>
          <p:nvPr/>
        </p:nvCxnSpPr>
        <p:spPr>
          <a:xfrm>
            <a:off x="6193030" y="4005413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5972181" y="433540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2" name="直接连接符 111"/>
          <p:cNvCxnSpPr>
            <a:stCxn id="111" idx="2"/>
            <a:endCxn id="113" idx="0"/>
          </p:cNvCxnSpPr>
          <p:nvPr/>
        </p:nvCxnSpPr>
        <p:spPr>
          <a:xfrm>
            <a:off x="6194558" y="4695696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5972181" y="5004180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4" name="直接连接符 113"/>
          <p:cNvCxnSpPr>
            <a:stCxn id="113" idx="2"/>
            <a:endCxn id="115" idx="0"/>
          </p:cNvCxnSpPr>
          <p:nvPr/>
        </p:nvCxnSpPr>
        <p:spPr>
          <a:xfrm>
            <a:off x="6194558" y="5364472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5973973" y="5660379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6" name="直接连接符 115"/>
          <p:cNvCxnSpPr>
            <a:stCxn id="115" idx="2"/>
            <a:endCxn id="117" idx="0"/>
          </p:cNvCxnSpPr>
          <p:nvPr/>
        </p:nvCxnSpPr>
        <p:spPr>
          <a:xfrm>
            <a:off x="6196350" y="6020671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5973973" y="6339913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766560" y="4478785"/>
            <a:ext cx="507760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=(2*1+2*2+2*3+2*4+2*5)/10=3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131356"/>
            <a:ext cx="8240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{10,15,20,25,30,35,40,45,50}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Address=Hash(key)=key%7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167687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1916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2657121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265712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4" name="直接连接符 53"/>
          <p:cNvCxnSpPr>
            <a:stCxn id="122" idx="2"/>
            <a:endCxn id="55" idx="0"/>
          </p:cNvCxnSpPr>
          <p:nvPr/>
        </p:nvCxnSpPr>
        <p:spPr>
          <a:xfrm flipH="1">
            <a:off x="4394446" y="2657121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17206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2605124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2657121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2657121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2657121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2657121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3" name="直接连接符 162"/>
          <p:cNvCxnSpPr>
            <a:stCxn id="130" idx="2"/>
            <a:endCxn id="164" idx="0"/>
          </p:cNvCxnSpPr>
          <p:nvPr/>
        </p:nvCxnSpPr>
        <p:spPr>
          <a:xfrm>
            <a:off x="7928047" y="2657121"/>
            <a:ext cx="745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7713125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2657121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298711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6190973" y="3349197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endCxn id="111" idx="0"/>
          </p:cNvCxnSpPr>
          <p:nvPr/>
        </p:nvCxnSpPr>
        <p:spPr>
          <a:xfrm>
            <a:off x="6193030" y="4005413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5972181" y="433540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766560" y="4478785"/>
            <a:ext cx="507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=(6*1+3*2+1*3)/10=1.5</a:t>
            </a:r>
          </a:p>
        </p:txBody>
      </p:sp>
      <p:sp>
        <p:nvSpPr>
          <p:cNvPr id="73" name="矩形 72"/>
          <p:cNvSpPr/>
          <p:nvPr/>
        </p:nvSpPr>
        <p:spPr>
          <a:xfrm>
            <a:off x="3582186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163099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797800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346439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938110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531573" y="365589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833663" y="430492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824698" y="4964728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583978" y="433542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3828141" y="3350990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4398296" y="3329474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5043755" y="3329474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5570879" y="3361747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6764978" y="3340232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5043755" y="398569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076028" y="4652665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3828141" y="4017963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066810"/>
            <a:ext cx="9133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除留余数法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Hash(key)=key%p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如果散列表的表长为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为小于等于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的最大质数，在一般情况下，对质数取余会让冲突更少，数据元素在散列表的分布更均匀。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质数又称素数，除了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和自身，不能被其它自然数整除的数（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1,3,7,13,17,19,23,29……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839333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>
          <a:xfrm>
            <a:off x="2427339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 80"/>
          <p:cNvSpPr/>
          <p:nvPr/>
        </p:nvSpPr>
        <p:spPr>
          <a:xfrm>
            <a:off x="3015345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3603351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4191357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4779363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/>
          <p:cNvSpPr/>
          <p:nvPr/>
        </p:nvSpPr>
        <p:spPr>
          <a:xfrm>
            <a:off x="5367369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1251327" y="339405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1387703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01" name="TextBox 100"/>
          <p:cNvSpPr txBox="1"/>
          <p:nvPr/>
        </p:nvSpPr>
        <p:spPr>
          <a:xfrm>
            <a:off x="1975195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2562687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3150179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04" name="TextBox 103"/>
          <p:cNvSpPr txBox="1"/>
          <p:nvPr/>
        </p:nvSpPr>
        <p:spPr>
          <a:xfrm>
            <a:off x="3737671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05" name="TextBox 104"/>
          <p:cNvSpPr txBox="1"/>
          <p:nvPr/>
        </p:nvSpPr>
        <p:spPr>
          <a:xfrm>
            <a:off x="4325163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06" name="TextBox 105"/>
          <p:cNvSpPr txBox="1"/>
          <p:nvPr/>
        </p:nvSpPr>
        <p:spPr>
          <a:xfrm>
            <a:off x="4912655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07" name="TextBox 106"/>
          <p:cNvSpPr txBox="1"/>
          <p:nvPr/>
        </p:nvSpPr>
        <p:spPr>
          <a:xfrm>
            <a:off x="5500147" y="3143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cxnSp>
        <p:nvCxnSpPr>
          <p:cNvPr id="113" name="直接连接符 112"/>
          <p:cNvCxnSpPr>
            <a:stCxn id="99" idx="2"/>
            <a:endCxn id="114" idx="0"/>
          </p:cNvCxnSpPr>
          <p:nvPr/>
        </p:nvCxnSpPr>
        <p:spPr>
          <a:xfrm flipH="1">
            <a:off x="1531115" y="3883493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1308738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7" name="直接连接符 116"/>
          <p:cNvCxnSpPr>
            <a:stCxn id="79" idx="2"/>
            <a:endCxn id="120" idx="0"/>
          </p:cNvCxnSpPr>
          <p:nvPr/>
        </p:nvCxnSpPr>
        <p:spPr>
          <a:xfrm>
            <a:off x="2123050" y="3883493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902201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5" name="直接连接符 124"/>
          <p:cNvCxnSpPr>
            <a:stCxn id="80" idx="2"/>
            <a:endCxn id="129" idx="0"/>
          </p:cNvCxnSpPr>
          <p:nvPr/>
        </p:nvCxnSpPr>
        <p:spPr>
          <a:xfrm flipH="1">
            <a:off x="2705491" y="3883493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2483114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4" name="直接连接符 143"/>
          <p:cNvCxnSpPr>
            <a:endCxn id="146" idx="0"/>
          </p:cNvCxnSpPr>
          <p:nvPr/>
        </p:nvCxnSpPr>
        <p:spPr>
          <a:xfrm flipH="1">
            <a:off x="3340192" y="3831496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/>
          <p:cNvSpPr/>
          <p:nvPr/>
        </p:nvSpPr>
        <p:spPr>
          <a:xfrm>
            <a:off x="3117815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9" name="直接连接符 148"/>
          <p:cNvCxnSpPr>
            <a:stCxn id="93" idx="2"/>
            <a:endCxn id="150" idx="0"/>
          </p:cNvCxnSpPr>
          <p:nvPr/>
        </p:nvCxnSpPr>
        <p:spPr>
          <a:xfrm>
            <a:off x="3887068" y="3883493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3666454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1" name="直接连接符 150"/>
          <p:cNvCxnSpPr>
            <a:stCxn id="94" idx="2"/>
            <a:endCxn id="152" idx="0"/>
          </p:cNvCxnSpPr>
          <p:nvPr/>
        </p:nvCxnSpPr>
        <p:spPr>
          <a:xfrm>
            <a:off x="4475074" y="3883493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4258125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3" name="直接连接符 152"/>
          <p:cNvCxnSpPr>
            <a:stCxn id="95" idx="2"/>
            <a:endCxn id="154" idx="0"/>
          </p:cNvCxnSpPr>
          <p:nvPr/>
        </p:nvCxnSpPr>
        <p:spPr>
          <a:xfrm>
            <a:off x="5063080" y="3883493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/>
          <p:cNvSpPr/>
          <p:nvPr/>
        </p:nvSpPr>
        <p:spPr>
          <a:xfrm>
            <a:off x="4851588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7" name="直接连接符 156"/>
          <p:cNvCxnSpPr>
            <a:stCxn id="96" idx="2"/>
            <a:endCxn id="158" idx="0"/>
          </p:cNvCxnSpPr>
          <p:nvPr/>
        </p:nvCxnSpPr>
        <p:spPr>
          <a:xfrm>
            <a:off x="5651086" y="3883493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5432501" y="421348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6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37128" y="2680458"/>
            <a:ext cx="8111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{1,2,3,4,5,6,7,8,9,10,11,12,13,14,15,16}</a:t>
            </a:r>
          </a:p>
        </p:txBody>
      </p:sp>
      <p:cxnSp>
        <p:nvCxnSpPr>
          <p:cNvPr id="168" name="直接连接符 167"/>
          <p:cNvCxnSpPr>
            <a:endCxn id="169" idx="0"/>
          </p:cNvCxnSpPr>
          <p:nvPr/>
        </p:nvCxnSpPr>
        <p:spPr>
          <a:xfrm flipH="1">
            <a:off x="1532903" y="4584551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1310526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0" name="直接连接符 169"/>
          <p:cNvCxnSpPr>
            <a:endCxn id="173" idx="0"/>
          </p:cNvCxnSpPr>
          <p:nvPr/>
        </p:nvCxnSpPr>
        <p:spPr>
          <a:xfrm>
            <a:off x="2124838" y="458455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/>
          <p:cNvSpPr/>
          <p:nvPr/>
        </p:nvSpPr>
        <p:spPr>
          <a:xfrm>
            <a:off x="1903989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4" name="直接连接符 173"/>
          <p:cNvCxnSpPr>
            <a:endCxn id="175" idx="0"/>
          </p:cNvCxnSpPr>
          <p:nvPr/>
        </p:nvCxnSpPr>
        <p:spPr>
          <a:xfrm flipH="1">
            <a:off x="2707279" y="4584551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 174"/>
          <p:cNvSpPr/>
          <p:nvPr/>
        </p:nvSpPr>
        <p:spPr>
          <a:xfrm>
            <a:off x="2484902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6" name="直接连接符 175"/>
          <p:cNvCxnSpPr>
            <a:endCxn id="177" idx="0"/>
          </p:cNvCxnSpPr>
          <p:nvPr/>
        </p:nvCxnSpPr>
        <p:spPr>
          <a:xfrm flipH="1">
            <a:off x="3341980" y="4532554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/>
          <p:cNvSpPr/>
          <p:nvPr/>
        </p:nvSpPr>
        <p:spPr>
          <a:xfrm>
            <a:off x="3119603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8" name="直接连接符 177"/>
          <p:cNvCxnSpPr>
            <a:endCxn id="179" idx="0"/>
          </p:cNvCxnSpPr>
          <p:nvPr/>
        </p:nvCxnSpPr>
        <p:spPr>
          <a:xfrm>
            <a:off x="3888856" y="4584551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/>
          <p:cNvSpPr/>
          <p:nvPr/>
        </p:nvSpPr>
        <p:spPr>
          <a:xfrm>
            <a:off x="3668242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80" name="直接连接符 179"/>
          <p:cNvCxnSpPr>
            <a:endCxn id="181" idx="0"/>
          </p:cNvCxnSpPr>
          <p:nvPr/>
        </p:nvCxnSpPr>
        <p:spPr>
          <a:xfrm>
            <a:off x="4476862" y="4584551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矩形 180"/>
          <p:cNvSpPr/>
          <p:nvPr/>
        </p:nvSpPr>
        <p:spPr>
          <a:xfrm>
            <a:off x="4259913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82" name="直接连接符 181"/>
          <p:cNvCxnSpPr>
            <a:endCxn id="183" idx="0"/>
          </p:cNvCxnSpPr>
          <p:nvPr/>
        </p:nvCxnSpPr>
        <p:spPr>
          <a:xfrm>
            <a:off x="5064868" y="4584551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/>
          <p:cNvSpPr/>
          <p:nvPr/>
        </p:nvSpPr>
        <p:spPr>
          <a:xfrm>
            <a:off x="4853376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84" name="直接连接符 183"/>
          <p:cNvCxnSpPr>
            <a:endCxn id="185" idx="0"/>
          </p:cNvCxnSpPr>
          <p:nvPr/>
        </p:nvCxnSpPr>
        <p:spPr>
          <a:xfrm>
            <a:off x="5652874" y="4584551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矩形 184"/>
          <p:cNvSpPr/>
          <p:nvPr/>
        </p:nvSpPr>
        <p:spPr>
          <a:xfrm>
            <a:off x="5434289" y="491454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6886463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矩形 186"/>
          <p:cNvSpPr/>
          <p:nvPr/>
        </p:nvSpPr>
        <p:spPr>
          <a:xfrm>
            <a:off x="7474469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8" name="矩形 187"/>
          <p:cNvSpPr/>
          <p:nvPr/>
        </p:nvSpPr>
        <p:spPr>
          <a:xfrm>
            <a:off x="8062475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9" name="矩形 188"/>
          <p:cNvSpPr/>
          <p:nvPr/>
        </p:nvSpPr>
        <p:spPr>
          <a:xfrm>
            <a:off x="8650481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0" name="矩形 189"/>
          <p:cNvSpPr/>
          <p:nvPr/>
        </p:nvSpPr>
        <p:spPr>
          <a:xfrm>
            <a:off x="9238487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1" name="矩形 190"/>
          <p:cNvSpPr/>
          <p:nvPr/>
        </p:nvSpPr>
        <p:spPr>
          <a:xfrm>
            <a:off x="9826493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2" name="矩形 191"/>
          <p:cNvSpPr/>
          <p:nvPr/>
        </p:nvSpPr>
        <p:spPr>
          <a:xfrm>
            <a:off x="10414499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" name="矩形 192"/>
          <p:cNvSpPr/>
          <p:nvPr/>
        </p:nvSpPr>
        <p:spPr>
          <a:xfrm>
            <a:off x="6298457" y="3385089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4" name="TextBox 193"/>
          <p:cNvSpPr txBox="1"/>
          <p:nvPr/>
        </p:nvSpPr>
        <p:spPr>
          <a:xfrm>
            <a:off x="6434833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95" name="TextBox 194"/>
          <p:cNvSpPr txBox="1"/>
          <p:nvPr/>
        </p:nvSpPr>
        <p:spPr>
          <a:xfrm>
            <a:off x="7022325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96" name="TextBox 195"/>
          <p:cNvSpPr txBox="1"/>
          <p:nvPr/>
        </p:nvSpPr>
        <p:spPr>
          <a:xfrm>
            <a:off x="7609817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97" name="TextBox 196"/>
          <p:cNvSpPr txBox="1"/>
          <p:nvPr/>
        </p:nvSpPr>
        <p:spPr>
          <a:xfrm>
            <a:off x="8197309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98" name="TextBox 197"/>
          <p:cNvSpPr txBox="1"/>
          <p:nvPr/>
        </p:nvSpPr>
        <p:spPr>
          <a:xfrm>
            <a:off x="8784801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99" name="TextBox 198"/>
          <p:cNvSpPr txBox="1"/>
          <p:nvPr/>
        </p:nvSpPr>
        <p:spPr>
          <a:xfrm>
            <a:off x="9372293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200" name="TextBox 199"/>
          <p:cNvSpPr txBox="1"/>
          <p:nvPr/>
        </p:nvSpPr>
        <p:spPr>
          <a:xfrm>
            <a:off x="9959785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201" name="TextBox 200"/>
          <p:cNvSpPr txBox="1"/>
          <p:nvPr/>
        </p:nvSpPr>
        <p:spPr>
          <a:xfrm>
            <a:off x="10547277" y="313404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cxnSp>
        <p:nvCxnSpPr>
          <p:cNvPr id="202" name="直接连接符 201"/>
          <p:cNvCxnSpPr>
            <a:stCxn id="193" idx="2"/>
            <a:endCxn id="203" idx="0"/>
          </p:cNvCxnSpPr>
          <p:nvPr/>
        </p:nvCxnSpPr>
        <p:spPr>
          <a:xfrm flipH="1">
            <a:off x="6578245" y="3874523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 202"/>
          <p:cNvSpPr/>
          <p:nvPr/>
        </p:nvSpPr>
        <p:spPr>
          <a:xfrm>
            <a:off x="6355868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04" name="直接连接符 203"/>
          <p:cNvCxnSpPr>
            <a:stCxn id="186" idx="2"/>
            <a:endCxn id="205" idx="0"/>
          </p:cNvCxnSpPr>
          <p:nvPr/>
        </p:nvCxnSpPr>
        <p:spPr>
          <a:xfrm>
            <a:off x="7170180" y="3874523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/>
          <p:cNvSpPr/>
          <p:nvPr/>
        </p:nvSpPr>
        <p:spPr>
          <a:xfrm>
            <a:off x="6949331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06" name="直接连接符 205"/>
          <p:cNvCxnSpPr>
            <a:stCxn id="187" idx="2"/>
            <a:endCxn id="207" idx="0"/>
          </p:cNvCxnSpPr>
          <p:nvPr/>
        </p:nvCxnSpPr>
        <p:spPr>
          <a:xfrm flipH="1">
            <a:off x="7752621" y="3874523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矩形 206"/>
          <p:cNvSpPr/>
          <p:nvPr/>
        </p:nvSpPr>
        <p:spPr>
          <a:xfrm>
            <a:off x="7530244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08" name="直接连接符 207"/>
          <p:cNvCxnSpPr>
            <a:endCxn id="209" idx="0"/>
          </p:cNvCxnSpPr>
          <p:nvPr/>
        </p:nvCxnSpPr>
        <p:spPr>
          <a:xfrm flipH="1">
            <a:off x="8387322" y="3822526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矩形 208"/>
          <p:cNvSpPr/>
          <p:nvPr/>
        </p:nvSpPr>
        <p:spPr>
          <a:xfrm>
            <a:off x="8164945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10" name="直接连接符 209"/>
          <p:cNvCxnSpPr>
            <a:stCxn id="189" idx="2"/>
            <a:endCxn id="211" idx="0"/>
          </p:cNvCxnSpPr>
          <p:nvPr/>
        </p:nvCxnSpPr>
        <p:spPr>
          <a:xfrm>
            <a:off x="8934198" y="3874523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矩形 210"/>
          <p:cNvSpPr/>
          <p:nvPr/>
        </p:nvSpPr>
        <p:spPr>
          <a:xfrm>
            <a:off x="8713584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12" name="直接连接符 211"/>
          <p:cNvCxnSpPr>
            <a:stCxn id="190" idx="2"/>
            <a:endCxn id="213" idx="0"/>
          </p:cNvCxnSpPr>
          <p:nvPr/>
        </p:nvCxnSpPr>
        <p:spPr>
          <a:xfrm>
            <a:off x="9522204" y="3874523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9305255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14" name="直接连接符 213"/>
          <p:cNvCxnSpPr>
            <a:stCxn id="191" idx="2"/>
            <a:endCxn id="215" idx="0"/>
          </p:cNvCxnSpPr>
          <p:nvPr/>
        </p:nvCxnSpPr>
        <p:spPr>
          <a:xfrm>
            <a:off x="10110210" y="3874523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 214"/>
          <p:cNvSpPr/>
          <p:nvPr/>
        </p:nvSpPr>
        <p:spPr>
          <a:xfrm>
            <a:off x="9898718" y="420451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18" name="直接连接符 217"/>
          <p:cNvCxnSpPr>
            <a:endCxn id="219" idx="0"/>
          </p:cNvCxnSpPr>
          <p:nvPr/>
        </p:nvCxnSpPr>
        <p:spPr>
          <a:xfrm flipH="1">
            <a:off x="6580033" y="4575581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矩形 218"/>
          <p:cNvSpPr/>
          <p:nvPr/>
        </p:nvSpPr>
        <p:spPr>
          <a:xfrm>
            <a:off x="6357656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0" name="直接连接符 219"/>
          <p:cNvCxnSpPr>
            <a:endCxn id="221" idx="0"/>
          </p:cNvCxnSpPr>
          <p:nvPr/>
        </p:nvCxnSpPr>
        <p:spPr>
          <a:xfrm>
            <a:off x="7171968" y="4575581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/>
          <p:cNvSpPr/>
          <p:nvPr/>
        </p:nvSpPr>
        <p:spPr>
          <a:xfrm>
            <a:off x="6951119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2" name="直接连接符 221"/>
          <p:cNvCxnSpPr>
            <a:endCxn id="223" idx="0"/>
          </p:cNvCxnSpPr>
          <p:nvPr/>
        </p:nvCxnSpPr>
        <p:spPr>
          <a:xfrm flipH="1">
            <a:off x="7754409" y="4575581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/>
          <p:cNvSpPr/>
          <p:nvPr/>
        </p:nvSpPr>
        <p:spPr>
          <a:xfrm>
            <a:off x="7532032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4" name="直接连接符 223"/>
          <p:cNvCxnSpPr>
            <a:endCxn id="225" idx="0"/>
          </p:cNvCxnSpPr>
          <p:nvPr/>
        </p:nvCxnSpPr>
        <p:spPr>
          <a:xfrm flipH="1">
            <a:off x="8389110" y="4523584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 224"/>
          <p:cNvSpPr/>
          <p:nvPr/>
        </p:nvSpPr>
        <p:spPr>
          <a:xfrm>
            <a:off x="8166733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6" name="直接连接符 225"/>
          <p:cNvCxnSpPr>
            <a:endCxn id="227" idx="0"/>
          </p:cNvCxnSpPr>
          <p:nvPr/>
        </p:nvCxnSpPr>
        <p:spPr>
          <a:xfrm>
            <a:off x="8935986" y="4575581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 226"/>
          <p:cNvSpPr/>
          <p:nvPr/>
        </p:nvSpPr>
        <p:spPr>
          <a:xfrm>
            <a:off x="8715372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28" name="直接连接符 227"/>
          <p:cNvCxnSpPr>
            <a:endCxn id="229" idx="0"/>
          </p:cNvCxnSpPr>
          <p:nvPr/>
        </p:nvCxnSpPr>
        <p:spPr>
          <a:xfrm>
            <a:off x="9523992" y="4575581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/>
          <p:cNvSpPr/>
          <p:nvPr/>
        </p:nvSpPr>
        <p:spPr>
          <a:xfrm>
            <a:off x="9307043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0" name="直接连接符 229"/>
          <p:cNvCxnSpPr>
            <a:endCxn id="231" idx="0"/>
          </p:cNvCxnSpPr>
          <p:nvPr/>
        </p:nvCxnSpPr>
        <p:spPr>
          <a:xfrm>
            <a:off x="10111998" y="4575581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/>
          <p:cNvSpPr/>
          <p:nvPr/>
        </p:nvSpPr>
        <p:spPr>
          <a:xfrm>
            <a:off x="9900506" y="490557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4" name="直接连接符 233"/>
          <p:cNvCxnSpPr>
            <a:endCxn id="235" idx="0"/>
          </p:cNvCxnSpPr>
          <p:nvPr/>
        </p:nvCxnSpPr>
        <p:spPr>
          <a:xfrm>
            <a:off x="7191376" y="5265864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矩形 234"/>
          <p:cNvSpPr/>
          <p:nvPr/>
        </p:nvSpPr>
        <p:spPr>
          <a:xfrm>
            <a:off x="6974427" y="559585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6" name="直接连接符 235"/>
          <p:cNvCxnSpPr>
            <a:endCxn id="237" idx="0"/>
          </p:cNvCxnSpPr>
          <p:nvPr/>
        </p:nvCxnSpPr>
        <p:spPr>
          <a:xfrm>
            <a:off x="7779382" y="5265864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 236"/>
          <p:cNvSpPr/>
          <p:nvPr/>
        </p:nvSpPr>
        <p:spPr>
          <a:xfrm>
            <a:off x="7567890" y="559585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238" name="直接连接符 237"/>
          <p:cNvCxnSpPr>
            <a:endCxn id="239" idx="0"/>
          </p:cNvCxnSpPr>
          <p:nvPr/>
        </p:nvCxnSpPr>
        <p:spPr>
          <a:xfrm>
            <a:off x="10714446" y="3865553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 238"/>
          <p:cNvSpPr/>
          <p:nvPr/>
        </p:nvSpPr>
        <p:spPr>
          <a:xfrm>
            <a:off x="10502954" y="4195544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066810"/>
            <a:ext cx="9133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直接定址法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Hash(key)=a*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key+b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为常数。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这种方法的计算最简单，不会产生冲突，适合关键字的分布比较连续的情况，如果关键字分布不连续，空位较多，则会造成存储空间的浪费。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0" name="表格 109"/>
          <p:cNvGraphicFramePr>
            <a:graphicFrameLocks noGrp="1"/>
          </p:cNvGraphicFramePr>
          <p:nvPr/>
        </p:nvGraphicFramePr>
        <p:xfrm>
          <a:off x="1881393" y="2838923"/>
          <a:ext cx="375561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263"/>
                <a:gridCol w="260335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业务代码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业务名称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开户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过户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销户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存款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取款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转帐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066810"/>
            <a:ext cx="9133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数字分析法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：根据关键字的特点，从数值中截取分布比较均匀的若干位作为散列地址，在应用开发中，还要结合除留余数法一起使用。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例如以手机号码为关键字设计散列函数。</a:t>
            </a: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78773" y="2671540"/>
            <a:ext cx="1966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13922200002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13922200003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13922200004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13922200005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13922299999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20179" y="2673328"/>
            <a:ext cx="1966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13825000001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13825000002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13825000003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13825000004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13825000005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13825099999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066810"/>
            <a:ext cx="913324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平方取中法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：根据关键字的特点，取关键字的平方值的中间若干位作为散列地址。这种方法得到的散列地址与关键字的每个位都有关系，适用于关键字的取值不够均匀或小于散列地址所需的位数。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881393" y="2623763"/>
          <a:ext cx="375561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141"/>
                <a:gridCol w="1452282"/>
                <a:gridCol w="132319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关键字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关键字平方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散列地址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010</a:t>
                      </a:r>
                      <a:r>
                        <a:rPr lang="en-US" altLang="zh-CN" dirty="0" smtClean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210</a:t>
                      </a:r>
                      <a:r>
                        <a:rPr lang="en-US" altLang="zh-CN" dirty="0" smtClean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210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440</a:t>
                      </a:r>
                      <a:r>
                        <a:rPr lang="en-US" altLang="zh-CN" dirty="0" smtClean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440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370</a:t>
                      </a:r>
                      <a:r>
                        <a:rPr lang="en-US" altLang="zh-CN" dirty="0" smtClean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370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2061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310</a:t>
                      </a:r>
                      <a:r>
                        <a:rPr lang="en-US" altLang="zh-CN" dirty="0" smtClean="0"/>
                        <a:t>541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310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2062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314</a:t>
                      </a:r>
                      <a:r>
                        <a:rPr lang="en-US" altLang="zh-CN" dirty="0" smtClean="0"/>
                        <a:t>704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314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2161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734</a:t>
                      </a:r>
                      <a:r>
                        <a:rPr lang="en-US" altLang="zh-CN" dirty="0" smtClean="0"/>
                        <a:t>741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734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2163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745</a:t>
                      </a:r>
                      <a:r>
                        <a:rPr lang="en-US" altLang="zh-CN" dirty="0" smtClean="0"/>
                        <a:t>651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745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066810"/>
            <a:ext cx="913324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：选择一个随机函数，用关键字作为随机函数的种子，返回值为散列地址，即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Hash(key)=radmom(key)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 可结合除留余数法一起使用。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散列函数的设计原则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26372" y="1174390"/>
            <a:ext cx="91332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散列函数的设计没有固定的方法，需要结合实际情况，考虑的因素有：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）清楚关键字分布的情况。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）散列表的大小要合理，太大浪费空间，太小则产生太多的同义词；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）散列表中的数据分布要均匀，不要形成堆积（聚集）；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）散列函数代码要精简。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散列表的实现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xmlns="" id="{9EBE7EC0-2F2A-4A9F-BB83-DBE4093374F9}"/>
              </a:ext>
            </a:extLst>
          </p:cNvPr>
          <p:cNvSpPr txBox="1"/>
          <p:nvPr/>
        </p:nvSpPr>
        <p:spPr>
          <a:xfrm>
            <a:off x="1032729" y="1387833"/>
            <a:ext cx="9724913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源代码下载的方法在视频发布后的视频简介中说明，清单如下：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）程序名： </a:t>
            </a:r>
            <a:r>
              <a:rPr lang="en-US" altLang="zh-CN" sz="17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hash.c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，此程序演示哈希表的实现，数据元素单链表带头结点。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216075" y="1593950"/>
            <a:ext cx="786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{0,1,2,3,4,5,6,7,8,9}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，按关键字的值存入结构体数组中。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4915" y="3976062"/>
            <a:ext cx="37909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352828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411629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470430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5292306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588031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6468318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705632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7644330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8232334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334409" y="1593950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例如有数据集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{80,11,72,53,64,5,33,56,77,61,86,88,91,93,95,46,27,38,9}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，把关键字的值除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取余数后再存入数组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链表中。（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链地址法、拉链法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940282" y="263028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07665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66415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25164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483913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5426626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6014118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6601610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189102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7776594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8364089" y="23792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cxnSp>
        <p:nvCxnSpPr>
          <p:cNvPr id="30" name="直接连接符 29"/>
          <p:cNvCxnSpPr>
            <a:stCxn id="133" idx="2"/>
            <a:endCxn id="31" idx="0"/>
          </p:cNvCxnSpPr>
          <p:nvPr/>
        </p:nvCxnSpPr>
        <p:spPr>
          <a:xfrm flipH="1">
            <a:off x="3220070" y="3119715"/>
            <a:ext cx="3929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997693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80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35" name="直接连接符 34"/>
          <p:cNvCxnSpPr>
            <a:stCxn id="31" idx="2"/>
            <a:endCxn id="36" idx="0"/>
          </p:cNvCxnSpPr>
          <p:nvPr/>
        </p:nvCxnSpPr>
        <p:spPr>
          <a:xfrm>
            <a:off x="3220070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997693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6" name="直接连接符 45"/>
          <p:cNvCxnSpPr>
            <a:stCxn id="121" idx="2"/>
            <a:endCxn id="47" idx="0"/>
          </p:cNvCxnSpPr>
          <p:nvPr/>
        </p:nvCxnSpPr>
        <p:spPr>
          <a:xfrm>
            <a:off x="3812005" y="3119715"/>
            <a:ext cx="15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591156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11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48" name="直接连接符 47"/>
          <p:cNvCxnSpPr>
            <a:stCxn id="47" idx="2"/>
            <a:endCxn id="49" idx="0"/>
          </p:cNvCxnSpPr>
          <p:nvPr/>
        </p:nvCxnSpPr>
        <p:spPr>
          <a:xfrm>
            <a:off x="3813533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591156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0" name="直接连接符 49"/>
          <p:cNvCxnSpPr>
            <a:stCxn id="49" idx="2"/>
            <a:endCxn id="51" idx="0"/>
          </p:cNvCxnSpPr>
          <p:nvPr/>
        </p:nvCxnSpPr>
        <p:spPr>
          <a:xfrm>
            <a:off x="3813533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592948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91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2" name="直接连接符 51"/>
          <p:cNvCxnSpPr>
            <a:stCxn id="51" idx="2"/>
            <a:endCxn id="53" idx="0"/>
          </p:cNvCxnSpPr>
          <p:nvPr/>
        </p:nvCxnSpPr>
        <p:spPr>
          <a:xfrm>
            <a:off x="3815325" y="5134973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3592948" y="545421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4" name="直接连接符 53"/>
          <p:cNvCxnSpPr>
            <a:stCxn id="122" idx="2"/>
            <a:endCxn id="55" idx="0"/>
          </p:cNvCxnSpPr>
          <p:nvPr/>
        </p:nvCxnSpPr>
        <p:spPr>
          <a:xfrm flipH="1">
            <a:off x="4394446" y="3119715"/>
            <a:ext cx="556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172069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72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56" name="直接连接符 55"/>
          <p:cNvCxnSpPr>
            <a:stCxn id="55" idx="2"/>
            <a:endCxn id="57" idx="0"/>
          </p:cNvCxnSpPr>
          <p:nvPr/>
        </p:nvCxnSpPr>
        <p:spPr>
          <a:xfrm>
            <a:off x="4394446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172069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2" name="直接连接符 61"/>
          <p:cNvCxnSpPr>
            <a:endCxn id="63" idx="0"/>
          </p:cNvCxnSpPr>
          <p:nvPr/>
        </p:nvCxnSpPr>
        <p:spPr>
          <a:xfrm flipH="1">
            <a:off x="5029147" y="3067718"/>
            <a:ext cx="3930" cy="381988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06770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4" name="直接连接符 63"/>
          <p:cNvCxnSpPr>
            <a:stCxn id="63" idx="2"/>
            <a:endCxn id="65" idx="0"/>
          </p:cNvCxnSpPr>
          <p:nvPr/>
        </p:nvCxnSpPr>
        <p:spPr>
          <a:xfrm>
            <a:off x="5029147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806770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6" name="直接连接符 65"/>
          <p:cNvCxnSpPr>
            <a:stCxn id="65" idx="2"/>
            <a:endCxn id="67" idx="0"/>
          </p:cNvCxnSpPr>
          <p:nvPr/>
        </p:nvCxnSpPr>
        <p:spPr>
          <a:xfrm>
            <a:off x="5029147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808562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93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68" name="直接连接符 67"/>
          <p:cNvCxnSpPr>
            <a:stCxn id="67" idx="2"/>
            <a:endCxn id="69" idx="0"/>
          </p:cNvCxnSpPr>
          <p:nvPr/>
        </p:nvCxnSpPr>
        <p:spPr>
          <a:xfrm>
            <a:off x="5030939" y="5134973"/>
            <a:ext cx="0" cy="319242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4808562" y="5454215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0" name="直接连接符 69"/>
          <p:cNvCxnSpPr>
            <a:stCxn id="124" idx="2"/>
            <a:endCxn id="71" idx="0"/>
          </p:cNvCxnSpPr>
          <p:nvPr/>
        </p:nvCxnSpPr>
        <p:spPr>
          <a:xfrm>
            <a:off x="5576023" y="3119715"/>
            <a:ext cx="1763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55409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64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72" name="直接连接符 71"/>
          <p:cNvCxnSpPr>
            <a:stCxn id="71" idx="2"/>
            <a:endCxn id="73" idx="0"/>
          </p:cNvCxnSpPr>
          <p:nvPr/>
        </p:nvCxnSpPr>
        <p:spPr>
          <a:xfrm>
            <a:off x="5577786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355409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18" name="直接连接符 117"/>
          <p:cNvCxnSpPr>
            <a:stCxn id="126" idx="2"/>
            <a:endCxn id="119" idx="0"/>
          </p:cNvCxnSpPr>
          <p:nvPr/>
        </p:nvCxnSpPr>
        <p:spPr>
          <a:xfrm>
            <a:off x="6164029" y="3119715"/>
            <a:ext cx="5428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118"/>
          <p:cNvSpPr/>
          <p:nvPr/>
        </p:nvSpPr>
        <p:spPr>
          <a:xfrm>
            <a:off x="5947080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0" name="直接连接符 119"/>
          <p:cNvCxnSpPr>
            <a:stCxn id="119" idx="2"/>
            <a:endCxn id="125" idx="0"/>
          </p:cNvCxnSpPr>
          <p:nvPr/>
        </p:nvCxnSpPr>
        <p:spPr>
          <a:xfrm>
            <a:off x="6169457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947080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95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29" name="直接连接符 128"/>
          <p:cNvCxnSpPr>
            <a:stCxn id="125" idx="2"/>
            <a:endCxn id="144" idx="0"/>
          </p:cNvCxnSpPr>
          <p:nvPr/>
        </p:nvCxnSpPr>
        <p:spPr>
          <a:xfrm>
            <a:off x="6169457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/>
          <p:cNvSpPr/>
          <p:nvPr/>
        </p:nvSpPr>
        <p:spPr>
          <a:xfrm>
            <a:off x="5948872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7" name="直接连接符 146"/>
          <p:cNvCxnSpPr>
            <a:stCxn id="127" idx="2"/>
            <a:endCxn id="148" idx="0"/>
          </p:cNvCxnSpPr>
          <p:nvPr/>
        </p:nvCxnSpPr>
        <p:spPr>
          <a:xfrm>
            <a:off x="6752035" y="3119715"/>
            <a:ext cx="1088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540543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56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49" name="直接连接符 148"/>
          <p:cNvCxnSpPr>
            <a:stCxn id="148" idx="2"/>
            <a:endCxn id="150" idx="0"/>
          </p:cNvCxnSpPr>
          <p:nvPr/>
        </p:nvCxnSpPr>
        <p:spPr>
          <a:xfrm>
            <a:off x="6762920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6540543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46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1" name="直接连接符 150"/>
          <p:cNvCxnSpPr>
            <a:stCxn id="150" idx="2"/>
            <a:endCxn id="152" idx="0"/>
          </p:cNvCxnSpPr>
          <p:nvPr/>
        </p:nvCxnSpPr>
        <p:spPr>
          <a:xfrm>
            <a:off x="6762920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6542335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5" name="直接连接符 154"/>
          <p:cNvCxnSpPr>
            <a:stCxn id="128" idx="2"/>
            <a:endCxn id="156" idx="0"/>
          </p:cNvCxnSpPr>
          <p:nvPr/>
        </p:nvCxnSpPr>
        <p:spPr>
          <a:xfrm>
            <a:off x="7340041" y="3119715"/>
            <a:ext cx="3792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7121456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77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7" name="直接连接符 156"/>
          <p:cNvCxnSpPr>
            <a:stCxn id="156" idx="2"/>
            <a:endCxn id="158" idx="0"/>
          </p:cNvCxnSpPr>
          <p:nvPr/>
        </p:nvCxnSpPr>
        <p:spPr>
          <a:xfrm>
            <a:off x="7343833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7121456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27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59" name="直接连接符 158"/>
          <p:cNvCxnSpPr>
            <a:stCxn id="158" idx="2"/>
            <a:endCxn id="160" idx="0"/>
          </p:cNvCxnSpPr>
          <p:nvPr/>
        </p:nvCxnSpPr>
        <p:spPr>
          <a:xfrm>
            <a:off x="7343833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/>
        </p:nvSpPr>
        <p:spPr>
          <a:xfrm>
            <a:off x="7123248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3" name="直接连接符 162"/>
          <p:cNvCxnSpPr>
            <a:stCxn id="130" idx="2"/>
            <a:endCxn id="164" idx="0"/>
          </p:cNvCxnSpPr>
          <p:nvPr/>
        </p:nvCxnSpPr>
        <p:spPr>
          <a:xfrm>
            <a:off x="7928047" y="3119715"/>
            <a:ext cx="7455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7713125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88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5" name="直接连接符 164"/>
          <p:cNvCxnSpPr>
            <a:stCxn id="164" idx="2"/>
            <a:endCxn id="166" idx="0"/>
          </p:cNvCxnSpPr>
          <p:nvPr/>
        </p:nvCxnSpPr>
        <p:spPr>
          <a:xfrm>
            <a:off x="7935502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7713125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38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67" name="直接连接符 166"/>
          <p:cNvCxnSpPr>
            <a:stCxn id="166" idx="2"/>
            <a:endCxn id="168" idx="0"/>
          </p:cNvCxnSpPr>
          <p:nvPr/>
        </p:nvCxnSpPr>
        <p:spPr>
          <a:xfrm>
            <a:off x="7935502" y="4478774"/>
            <a:ext cx="1792" cy="295907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7714917" y="4774681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1" name="直接连接符 170"/>
          <p:cNvCxnSpPr>
            <a:stCxn id="131" idx="2"/>
            <a:endCxn id="172" idx="0"/>
          </p:cNvCxnSpPr>
          <p:nvPr/>
        </p:nvCxnSpPr>
        <p:spPr>
          <a:xfrm>
            <a:off x="8516051" y="3119715"/>
            <a:ext cx="364" cy="329991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8294038" y="3449706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9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cxnSp>
        <p:nvCxnSpPr>
          <p:cNvPr id="173" name="直接连接符 172"/>
          <p:cNvCxnSpPr>
            <a:stCxn id="172" idx="2"/>
            <a:endCxn id="174" idx="0"/>
          </p:cNvCxnSpPr>
          <p:nvPr/>
        </p:nvCxnSpPr>
        <p:spPr>
          <a:xfrm>
            <a:off x="8516415" y="3809998"/>
            <a:ext cx="0" cy="308484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矩形 173"/>
          <p:cNvSpPr/>
          <p:nvPr/>
        </p:nvSpPr>
        <p:spPr>
          <a:xfrm>
            <a:off x="8294038" y="4118482"/>
            <a:ext cx="444753" cy="36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atin typeface="Microsoft YaHei UI" pitchFamily="34" charset="-122"/>
                <a:ea typeface="Microsoft YaHei UI" pitchFamily="34" charset="-122"/>
              </a:rPr>
              <a:t>^</a:t>
            </a:r>
            <a:endParaRPr lang="zh-CN" altLang="en-US" sz="1600" dirty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8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433016" y="5888052"/>
            <a:ext cx="824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）可以用链表，也可以用二叉排序树。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）链表可以带头结点，也可以不带头结点，排序可提高查找的效率。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821271" y="3863819"/>
            <a:ext cx="2140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 hash(int key)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return key%10;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2441766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3029772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3617778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4205784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4793790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5381796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5969802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6557808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7145812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3" name="矩形 132"/>
          <p:cNvSpPr/>
          <p:nvPr/>
        </p:nvSpPr>
        <p:spPr>
          <a:xfrm>
            <a:off x="1853760" y="206012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1990136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2577628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3165120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3752612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4340104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4927596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5515088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6102580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6690072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7277567" y="1809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8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142566" y="3155635"/>
            <a:ext cx="19668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13922200002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13922200003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13922200004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13922200005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13922299999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8567656" y="2051156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688653" y="1789351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10</a:t>
            </a:r>
            <a:r>
              <a:rPr lang="en-US" altLang="zh-CN" sz="1400" i="1" baseline="30000" dirty="0" smtClean="0"/>
              <a:t>11</a:t>
            </a:r>
            <a:endParaRPr lang="zh-CN" altLang="en-US" sz="1400" i="1" baseline="30000" dirty="0"/>
          </a:p>
        </p:txBody>
      </p:sp>
      <p:sp>
        <p:nvSpPr>
          <p:cNvPr id="9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931972" y="2049389"/>
            <a:ext cx="566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180703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14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239504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298305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68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357105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27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415906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474706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533507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592308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84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651108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01675" y="1335758"/>
            <a:ext cx="938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{19,14,23,1,68,20,84,27,55,11,10,79}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Hash(key)=key%13</a:t>
            </a:r>
          </a:p>
        </p:txBody>
      </p:sp>
      <p:sp>
        <p:nvSpPr>
          <p:cNvPr id="133" name="矩形 132"/>
          <p:cNvSpPr/>
          <p:nvPr/>
        </p:nvSpPr>
        <p:spPr>
          <a:xfrm>
            <a:off x="121903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135540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194290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53039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311788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370537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429286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488036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85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605534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6642840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3" name="矩形 32"/>
          <p:cNvSpPr/>
          <p:nvPr/>
        </p:nvSpPr>
        <p:spPr>
          <a:xfrm>
            <a:off x="7682505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270511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85851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9446523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003452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09449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23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23087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10</a:t>
            </a:r>
            <a:endParaRPr lang="zh-CN" altLang="en-US" sz="1400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7818367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11</a:t>
            </a:r>
            <a:endParaRPr lang="zh-CN" altLang="en-US" sz="1400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8405859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12</a:t>
            </a:r>
            <a:endParaRPr lang="zh-CN" altLang="en-US" sz="1400" i="1" dirty="0"/>
          </a:p>
        </p:txBody>
      </p:sp>
      <p:sp>
        <p:nvSpPr>
          <p:cNvPr id="42" name="TextBox 41"/>
          <p:cNvSpPr txBox="1"/>
          <p:nvPr/>
        </p:nvSpPr>
        <p:spPr>
          <a:xfrm>
            <a:off x="8993351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13</a:t>
            </a:r>
            <a:endParaRPr lang="zh-CN" altLang="en-US" sz="1400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958084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14</a:t>
            </a:r>
            <a:endParaRPr lang="zh-CN" altLang="en-US" sz="14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016833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15</a:t>
            </a:r>
            <a:endParaRPr lang="zh-CN" altLang="en-US" sz="1400" i="1" dirty="0"/>
          </a:p>
        </p:txBody>
      </p:sp>
      <p:sp>
        <p:nvSpPr>
          <p:cNvPr id="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6" y="2865182"/>
            <a:ext cx="97894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开放定址法：如果有冲突发生，那么就尝试其它的存储单元，直到找出空的单元为止。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=(Hash(key)+d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% m        i=0,1,2,3,4,……,m-1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为散列函数，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为散列表长，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为增量序列（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次发生冲突，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表示没冲突），有三种取法：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=0,1,2,3,4,……,m-1</a:t>
            </a: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     19%13=6      (6+0)%16=6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     1%13=1        (1+1)%16=2</a:t>
            </a: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250630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14</a:t>
            </a:r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309431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368232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68</a:t>
            </a:r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427032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27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485833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55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544633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603434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662235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84</a:t>
            </a:r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721035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9" y="1335758"/>
            <a:ext cx="938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{19,14,23,1,68,20,84,27,55,11,10,79}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Hash(key)=key%13</a:t>
            </a:r>
          </a:p>
        </p:txBody>
      </p:sp>
      <p:sp>
        <p:nvSpPr>
          <p:cNvPr id="133" name="矩形 132"/>
          <p:cNvSpPr/>
          <p:nvPr/>
        </p:nvSpPr>
        <p:spPr>
          <a:xfrm>
            <a:off x="191830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205467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264217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322966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381715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440464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499213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557963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616712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675461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7342110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3" name="矩形 32"/>
          <p:cNvSpPr/>
          <p:nvPr/>
        </p:nvSpPr>
        <p:spPr>
          <a:xfrm>
            <a:off x="8381775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969781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955778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10145793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073379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79376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23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93014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10</a:t>
            </a:r>
            <a:endParaRPr lang="zh-CN" altLang="en-US" sz="1400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8517637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11</a:t>
            </a:r>
            <a:endParaRPr lang="zh-CN" altLang="en-US" sz="1400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05129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12</a:t>
            </a:r>
            <a:endParaRPr lang="zh-CN" altLang="en-US" sz="1400" i="1" dirty="0"/>
          </a:p>
        </p:txBody>
      </p:sp>
      <p:sp>
        <p:nvSpPr>
          <p:cNvPr id="42" name="TextBox 41"/>
          <p:cNvSpPr txBox="1"/>
          <p:nvPr/>
        </p:nvSpPr>
        <p:spPr>
          <a:xfrm>
            <a:off x="9692621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13</a:t>
            </a:r>
            <a:endParaRPr lang="zh-CN" altLang="en-US" sz="1400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1028011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14</a:t>
            </a:r>
            <a:endParaRPr lang="zh-CN" altLang="en-US" sz="14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086760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15</a:t>
            </a:r>
            <a:endParaRPr lang="zh-CN" altLang="en-US" sz="1400" i="1" dirty="0"/>
          </a:p>
        </p:txBody>
      </p:sp>
      <p:sp>
        <p:nvSpPr>
          <p:cNvPr id="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6" y="2865182"/>
            <a:ext cx="97894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开放定址法：如果有冲突发生，那么就尝试其它的存储单元，直到找出空的单元为止。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=(Hash(key)+d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% m        i=0,1,2,3,4,……,m-1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为散列函数，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为散列表长，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为增量序列（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次发生冲突，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表示没冲突），有三种取法：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=0,1,2,3,4,……,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m-1     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伪删除（逻辑删除）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19%13=6  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27%13=1  4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55%13=3    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14%13=1  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68%13=3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11%13=11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23%13=10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20%13=7  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10%13=10  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1%13=1      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84%13=6  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79%13=1    9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=(1+1+1+2+4+1+1+3+3+1+3+9)/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12=2.5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=(1+13+12+11+10+9+8+7+6+5+4+3+2)/13=7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99305" y="2277054"/>
            <a:ext cx="567434" cy="4894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192537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251338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58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310138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368939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427740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32</a:t>
            </a:r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486540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545341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604141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662942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9" y="1335758"/>
            <a:ext cx="938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{6,19,32,45,58,71,84}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Hash(key)=key%13</a:t>
            </a:r>
          </a:p>
        </p:txBody>
      </p:sp>
      <p:sp>
        <p:nvSpPr>
          <p:cNvPr id="133" name="矩形 132"/>
          <p:cNvSpPr/>
          <p:nvPr/>
        </p:nvSpPr>
        <p:spPr>
          <a:xfrm>
            <a:off x="133737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147374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206123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64873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323622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382371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441120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499869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558619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617368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6761178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3" name="矩形 32"/>
          <p:cNvSpPr/>
          <p:nvPr/>
        </p:nvSpPr>
        <p:spPr>
          <a:xfrm>
            <a:off x="7800843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38884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976855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84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9564861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015286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71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21283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45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34921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10</a:t>
            </a:r>
            <a:endParaRPr lang="zh-CN" altLang="en-US" sz="1400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793670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11</a:t>
            </a:r>
            <a:endParaRPr lang="zh-CN" altLang="en-US" sz="1400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8524197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12</a:t>
            </a:r>
            <a:endParaRPr lang="zh-CN" altLang="en-US" sz="1400" i="1" dirty="0"/>
          </a:p>
        </p:txBody>
      </p:sp>
      <p:sp>
        <p:nvSpPr>
          <p:cNvPr id="42" name="TextBox 41"/>
          <p:cNvSpPr txBox="1"/>
          <p:nvPr/>
        </p:nvSpPr>
        <p:spPr>
          <a:xfrm>
            <a:off x="9111689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13</a:t>
            </a:r>
            <a:endParaRPr lang="zh-CN" altLang="en-US" sz="1400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9699181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14</a:t>
            </a:r>
            <a:endParaRPr lang="zh-CN" altLang="en-US" sz="14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028667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15</a:t>
            </a:r>
            <a:endParaRPr lang="zh-CN" altLang="en-US" sz="1400" i="1" dirty="0"/>
          </a:p>
        </p:txBody>
      </p:sp>
      <p:sp>
        <p:nvSpPr>
          <p:cNvPr id="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6" y="2865182"/>
            <a:ext cx="97894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开放定址法：如果有冲突发生，那么就尝试其它的存储单元，直到找出空的单元为止。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=(Hash(key)+d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% m        i=0,1,2,3,4,……,m-1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为散列函数，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为散列表长，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为增量序列（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次发生冲突，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表示没冲突），有三种取法：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平方探测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,1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,-1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,-2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,3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,-3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,……,k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,-k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k≤m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/2)</a:t>
            </a: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定理：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）如果的大小是素数，那么当表至少有一半是空的时候，总能够插入一个新元素。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）如果表的大小是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4k+3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的素数，那么整个表都可以探测到。</a:t>
            </a:r>
            <a:endParaRPr lang="en-US" altLang="zh-CN" sz="1600" baseline="300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192537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251338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310138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3689395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32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427740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/>
          <p:cNvSpPr/>
          <p:nvPr/>
        </p:nvSpPr>
        <p:spPr>
          <a:xfrm>
            <a:off x="4865407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128" name="矩形 127"/>
          <p:cNvSpPr/>
          <p:nvPr/>
        </p:nvSpPr>
        <p:spPr>
          <a:xfrm>
            <a:off x="545341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/>
          <p:cNvSpPr/>
          <p:nvPr/>
        </p:nvSpPr>
        <p:spPr>
          <a:xfrm>
            <a:off x="6041419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6629423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9" y="1335758"/>
            <a:ext cx="938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例如超女数据集的关键字是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{6,19,32,45,58,71,84}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Hash(key)=key%13</a:t>
            </a:r>
          </a:p>
        </p:txBody>
      </p:sp>
      <p:sp>
        <p:nvSpPr>
          <p:cNvPr id="133" name="矩形 132"/>
          <p:cNvSpPr/>
          <p:nvPr/>
        </p:nvSpPr>
        <p:spPr>
          <a:xfrm>
            <a:off x="1337371" y="2264508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147374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0</a:t>
            </a:r>
            <a:endParaRPr lang="zh-CN" altLang="en-US" sz="1400" i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206123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</a:t>
            </a:r>
            <a:endParaRPr lang="zh-CN" altLang="en-US" sz="1400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64873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2</a:t>
            </a:r>
            <a:endParaRPr lang="zh-CN" altLang="en-US" sz="1400" i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323622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3</a:t>
            </a:r>
            <a:endParaRPr lang="zh-CN" altLang="en-US" sz="1400" i="1" dirty="0"/>
          </a:p>
        </p:txBody>
      </p:sp>
      <p:sp>
        <p:nvSpPr>
          <p:cNvPr id="138" name="TextBox 137"/>
          <p:cNvSpPr txBox="1"/>
          <p:nvPr/>
        </p:nvSpPr>
        <p:spPr>
          <a:xfrm>
            <a:off x="3823715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4</a:t>
            </a:r>
            <a:endParaRPr lang="zh-CN" altLang="en-US" sz="1400" i="1" dirty="0"/>
          </a:p>
        </p:txBody>
      </p:sp>
      <p:sp>
        <p:nvSpPr>
          <p:cNvPr id="139" name="TextBox 138"/>
          <p:cNvSpPr txBox="1"/>
          <p:nvPr/>
        </p:nvSpPr>
        <p:spPr>
          <a:xfrm>
            <a:off x="4411207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5</a:t>
            </a:r>
            <a:endParaRPr lang="zh-CN" altLang="en-US" sz="1400" i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4998699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6</a:t>
            </a:r>
            <a:endParaRPr lang="zh-CN" altLang="en-US" sz="1400" i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5586191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7</a:t>
            </a:r>
            <a:endParaRPr lang="zh-CN" altLang="en-US" sz="1400" i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6173683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8</a:t>
            </a:r>
            <a:endParaRPr lang="zh-CN" altLang="en-US" sz="1400" i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6761178" y="20134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9</a:t>
            </a:r>
            <a:endParaRPr lang="zh-CN" altLang="en-US" sz="1400" i="1" dirty="0"/>
          </a:p>
        </p:txBody>
      </p:sp>
      <p:sp>
        <p:nvSpPr>
          <p:cNvPr id="33" name="矩形 32"/>
          <p:cNvSpPr/>
          <p:nvPr/>
        </p:nvSpPr>
        <p:spPr>
          <a:xfrm>
            <a:off x="7800843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45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8388849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976855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58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9564861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015286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212837" y="2266301"/>
            <a:ext cx="567434" cy="4894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34921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10</a:t>
            </a:r>
            <a:endParaRPr lang="zh-CN" altLang="en-US" sz="1400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7936705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11</a:t>
            </a:r>
            <a:endParaRPr lang="zh-CN" altLang="en-US" sz="1400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8524197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12</a:t>
            </a:r>
            <a:endParaRPr lang="zh-CN" altLang="en-US" sz="1400" i="1" dirty="0"/>
          </a:p>
        </p:txBody>
      </p:sp>
      <p:sp>
        <p:nvSpPr>
          <p:cNvPr id="42" name="TextBox 41"/>
          <p:cNvSpPr txBox="1"/>
          <p:nvPr/>
        </p:nvSpPr>
        <p:spPr>
          <a:xfrm>
            <a:off x="9111689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13</a:t>
            </a:r>
            <a:endParaRPr lang="zh-CN" altLang="en-US" sz="1400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9699181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14</a:t>
            </a:r>
            <a:endParaRPr lang="zh-CN" altLang="en-US" sz="14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0286673" y="20152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 smtClean="0"/>
              <a:t>15</a:t>
            </a:r>
            <a:endParaRPr lang="zh-CN" altLang="en-US" sz="1400" i="1" dirty="0"/>
          </a:p>
        </p:txBody>
      </p:sp>
      <p:sp>
        <p:nvSpPr>
          <p:cNvPr id="4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6" y="2865182"/>
            <a:ext cx="97894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开放定址法：如果有冲突发生，那么就尝试其它的存储单元，直到找出空的单元为止。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=(Hash(key)+d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% m        i=0,1,2,3,4,……,m-1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Hash(key)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为散列函数，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为散列表长，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为增量序列（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次发生冲突，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表示没冲突），有三种取法：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伪随机序列法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是一个伪随机的序列，如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0,3,-2,5,7,-5,-7,9 …..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再散列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9" y="1335758"/>
            <a:ext cx="938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准备多几个散列函数，如果发生了冲突，就用下一个散列函数计算一个新的地址，直到不冲突为止。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623944" y="956342"/>
          <a:ext cx="1113416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644"/>
                <a:gridCol w="4604273"/>
                <a:gridCol w="52712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《C/C++</a:t>
                      </a:r>
                      <a:r>
                        <a:rPr lang="zh-CN" altLang="en-US" dirty="0" smtClean="0"/>
                        <a:t>项目实战</a:t>
                      </a:r>
                      <a:r>
                        <a:rPr lang="en-US" altLang="zh-CN" dirty="0" smtClean="0"/>
                        <a:t>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《C/C++</a:t>
                      </a:r>
                      <a:r>
                        <a:rPr lang="zh-CN" altLang="en-US" dirty="0" smtClean="0"/>
                        <a:t>网络开发工程师</a:t>
                      </a:r>
                      <a:r>
                        <a:rPr lang="en-US" altLang="zh-CN" dirty="0" smtClean="0"/>
                        <a:t>》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课程内容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偏数据库开发，简单的网络开发。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高性能网络服务开发，简单的数据库开发。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录制难度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录制时长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2-3</a:t>
                      </a:r>
                      <a:r>
                        <a:rPr lang="zh-CN" altLang="en-US" dirty="0" smtClean="0"/>
                        <a:t>个月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5-6</a:t>
                      </a:r>
                      <a:r>
                        <a:rPr lang="zh-CN" altLang="en-US" dirty="0" smtClean="0"/>
                        <a:t>个月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学习难度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学习时长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2-3</a:t>
                      </a:r>
                      <a:r>
                        <a:rPr lang="zh-CN" altLang="en-US" dirty="0" smtClean="0"/>
                        <a:t>个月，每天</a:t>
                      </a:r>
                      <a:r>
                        <a:rPr lang="en-US" altLang="zh-CN" dirty="0" smtClean="0"/>
                        <a:t>8</a:t>
                      </a:r>
                      <a:r>
                        <a:rPr lang="zh-CN" altLang="en-US" dirty="0" smtClean="0"/>
                        <a:t>小时。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2-3</a:t>
                      </a:r>
                      <a:r>
                        <a:rPr lang="zh-CN" altLang="en-US" dirty="0" smtClean="0"/>
                        <a:t>个月，每天</a:t>
                      </a:r>
                      <a:r>
                        <a:rPr lang="en-US" altLang="zh-CN" dirty="0" smtClean="0"/>
                        <a:t>8</a:t>
                      </a:r>
                      <a:r>
                        <a:rPr lang="zh-CN" altLang="en-US" dirty="0" smtClean="0"/>
                        <a:t>小时。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建议定价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980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学员收获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可以拿到</a:t>
                      </a:r>
                      <a:r>
                        <a:rPr lang="en-US" altLang="zh-CN" dirty="0" smtClean="0"/>
                        <a:t>Offer</a:t>
                      </a:r>
                      <a:r>
                        <a:rPr lang="zh-CN" altLang="en-US" dirty="0" smtClean="0"/>
                        <a:t>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更容易拿到</a:t>
                      </a:r>
                      <a:r>
                        <a:rPr lang="en-US" altLang="zh-CN" dirty="0" smtClean="0"/>
                        <a:t>Offer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985</a:t>
                      </a:r>
                      <a:r>
                        <a:rPr lang="zh-CN" altLang="en-US" dirty="0" smtClean="0"/>
                        <a:t>的学生可以考虑大厂。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文本框 1">
            <a:extLst>
              <a:ext uri="{FF2B5EF4-FFF2-40B4-BE49-F238E27FC236}">
                <a16:creationId xmlns:a16="http://schemas.microsoft.com/office/drawing/2014/main" xmlns="" id="{9EBE7EC0-2F2A-4A9F-BB83-DBE4093374F9}"/>
              </a:ext>
            </a:extLst>
          </p:cNvPr>
          <p:cNvSpPr txBox="1"/>
          <p:nvPr/>
        </p:nvSpPr>
        <p:spPr>
          <a:xfrm>
            <a:off x="796061" y="4238605"/>
            <a:ext cx="1095129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目前，企业的招聘需求比以前高了很多，一般会要求网络和数据库开发两种技能都具备，纯数据库开发的岗位不多，所以，我把数据库开发的课程命名为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项目实战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，也教一些初中级的网络开发技能。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如果先学习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项目实战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打好基础，再学习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网络开发工程师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会很容易上手。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如果只学习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项目实战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，拿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问题不大，但不会太好。</a:t>
            </a: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如果直接学习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网络开发工程师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，我有点担心学员的基础不够。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不过，不管是哪个课程，在质量上远超过市面上现有的课程，价格也相当的实惠，薄利多销。</a:t>
            </a:r>
            <a:endParaRPr lang="en-US" altLang="zh-CN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1">
            <a:extLst>
              <a:ext uri="{FF2B5EF4-FFF2-40B4-BE49-F238E27FC236}">
                <a16:creationId xmlns:a16="http://schemas.microsoft.com/office/drawing/2014/main" xmlns="" id="{9EBE7EC0-2F2A-4A9F-BB83-DBE4093374F9}"/>
              </a:ext>
            </a:extLst>
          </p:cNvPr>
          <p:cNvSpPr txBox="1"/>
          <p:nvPr/>
        </p:nvSpPr>
        <p:spPr>
          <a:xfrm>
            <a:off x="625732" y="335376"/>
            <a:ext cx="10768410" cy="43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把之前课程大纲拆为两个课程：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项目实战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《C/C++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网络开发工程师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43930</TotalTime>
  <Words>5045</Words>
  <Application>Microsoft Office PowerPoint</Application>
  <PresentationFormat>自定义</PresentationFormat>
  <Paragraphs>1364</Paragraphs>
  <Slides>74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7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congzhou</dc:creator>
  <cp:lastModifiedBy>Administrator</cp:lastModifiedBy>
  <cp:revision>4135</cp:revision>
  <dcterms:created xsi:type="dcterms:W3CDTF">2020-04-28T04:36:58Z</dcterms:created>
  <dcterms:modified xsi:type="dcterms:W3CDTF">2021-04-17T05:35:05Z</dcterms:modified>
</cp:coreProperties>
</file>