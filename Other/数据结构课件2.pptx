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s/slide120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s/slide122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7" r:id="rId2"/>
    <p:sldId id="381" r:id="rId3"/>
    <p:sldId id="279" r:id="rId4"/>
    <p:sldId id="295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5" r:id="rId27"/>
    <p:sldId id="306" r:id="rId28"/>
    <p:sldId id="303" r:id="rId29"/>
    <p:sldId id="304" r:id="rId30"/>
    <p:sldId id="307" r:id="rId31"/>
    <p:sldId id="308" r:id="rId32"/>
    <p:sldId id="310" r:id="rId33"/>
    <p:sldId id="309" r:id="rId34"/>
    <p:sldId id="311" r:id="rId35"/>
    <p:sldId id="312" r:id="rId36"/>
    <p:sldId id="314" r:id="rId37"/>
    <p:sldId id="315" r:id="rId38"/>
    <p:sldId id="316" r:id="rId39"/>
    <p:sldId id="382" r:id="rId40"/>
    <p:sldId id="384" r:id="rId41"/>
    <p:sldId id="383" r:id="rId42"/>
    <p:sldId id="385" r:id="rId43"/>
    <p:sldId id="386" r:id="rId44"/>
    <p:sldId id="392" r:id="rId45"/>
    <p:sldId id="393" r:id="rId46"/>
    <p:sldId id="389" r:id="rId47"/>
    <p:sldId id="390" r:id="rId48"/>
    <p:sldId id="391" r:id="rId49"/>
    <p:sldId id="380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8" r:id="rId61"/>
    <p:sldId id="327" r:id="rId62"/>
    <p:sldId id="329" r:id="rId63"/>
    <p:sldId id="330" r:id="rId64"/>
    <p:sldId id="331" r:id="rId65"/>
    <p:sldId id="332" r:id="rId66"/>
    <p:sldId id="333" r:id="rId67"/>
    <p:sldId id="334" r:id="rId68"/>
    <p:sldId id="335" r:id="rId69"/>
    <p:sldId id="338" r:id="rId70"/>
    <p:sldId id="337" r:id="rId71"/>
    <p:sldId id="336" r:id="rId72"/>
    <p:sldId id="339" r:id="rId73"/>
    <p:sldId id="340" r:id="rId74"/>
    <p:sldId id="342" r:id="rId75"/>
    <p:sldId id="341" r:id="rId76"/>
    <p:sldId id="343" r:id="rId77"/>
    <p:sldId id="344" r:id="rId78"/>
    <p:sldId id="345" r:id="rId79"/>
    <p:sldId id="346" r:id="rId80"/>
    <p:sldId id="348" r:id="rId81"/>
    <p:sldId id="347" r:id="rId82"/>
    <p:sldId id="349" r:id="rId83"/>
    <p:sldId id="350" r:id="rId84"/>
    <p:sldId id="351" r:id="rId85"/>
    <p:sldId id="352" r:id="rId86"/>
    <p:sldId id="353" r:id="rId87"/>
    <p:sldId id="356" r:id="rId88"/>
    <p:sldId id="357" r:id="rId89"/>
    <p:sldId id="358" r:id="rId90"/>
    <p:sldId id="359" r:id="rId91"/>
    <p:sldId id="360" r:id="rId92"/>
    <p:sldId id="361" r:id="rId93"/>
    <p:sldId id="362" r:id="rId94"/>
    <p:sldId id="363" r:id="rId95"/>
    <p:sldId id="365" r:id="rId96"/>
    <p:sldId id="366" r:id="rId97"/>
    <p:sldId id="367" r:id="rId98"/>
    <p:sldId id="364" r:id="rId99"/>
    <p:sldId id="368" r:id="rId100"/>
    <p:sldId id="369" r:id="rId101"/>
    <p:sldId id="374" r:id="rId102"/>
    <p:sldId id="370" r:id="rId103"/>
    <p:sldId id="376" r:id="rId104"/>
    <p:sldId id="372" r:id="rId105"/>
    <p:sldId id="377" r:id="rId106"/>
    <p:sldId id="378" r:id="rId107"/>
    <p:sldId id="375" r:id="rId108"/>
    <p:sldId id="373" r:id="rId109"/>
    <p:sldId id="379" r:id="rId110"/>
    <p:sldId id="394" r:id="rId111"/>
    <p:sldId id="395" r:id="rId112"/>
    <p:sldId id="396" r:id="rId113"/>
    <p:sldId id="397" r:id="rId114"/>
    <p:sldId id="404" r:id="rId115"/>
    <p:sldId id="406" r:id="rId116"/>
    <p:sldId id="398" r:id="rId117"/>
    <p:sldId id="405" r:id="rId118"/>
    <p:sldId id="399" r:id="rId119"/>
    <p:sldId id="401" r:id="rId120"/>
    <p:sldId id="402" r:id="rId121"/>
    <p:sldId id="403" r:id="rId122"/>
    <p:sldId id="407" r:id="rId1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CC"/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-21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3/24/2021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1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3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0.png"/><Relationship Id="rId4" Type="http://schemas.openxmlformats.org/officeDocument/2006/relationships/image" Target="../media/image137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7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5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60304" y="1836250"/>
            <a:ext cx="1812157" cy="2072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72442" y="1814749"/>
            <a:ext cx="1931578" cy="2208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4250" y="1177479"/>
            <a:ext cx="5143500" cy="5330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图的定义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99247" y="1133135"/>
            <a:ext cx="108867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Graph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）是一种比线性表和树更复杂的数据结构。在线性表中，数据元素之间是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一对一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的关系，每个数据元素只有一个直接前驱和一个直接后继。在树形结构中，数据元素之间有明显的层次关系，上一层的数据元素（结点）和下一层的元素（结点）是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一对多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的关系。而在图形结构中，数据元素之间的关系是任意的，是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多对多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的关系。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在图中，数据元素通常称做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Vertex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），简称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有穷非空的集合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V={v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,…,v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|V|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表示顶点的个数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，两个顶点之间的关系称做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Edge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），简称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有穷的集合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E={(u,v)|,u</a:t>
            </a:r>
            <a:r>
              <a:rPr lang="el-GR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ϵ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V,v</a:t>
            </a:r>
            <a:r>
              <a:rPr lang="el-GR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ϵ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V}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表示边的条数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图简称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，由顶点集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和边集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组成，记作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G=(V,E)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2874" y="3621406"/>
            <a:ext cx="1801401" cy="1700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73179" y="5472100"/>
            <a:ext cx="4225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)}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7074" y="3621406"/>
            <a:ext cx="1213878" cy="1391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769279" y="5472100"/>
            <a:ext cx="2771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={}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82908" y="3621406"/>
            <a:ext cx="1909509" cy="1445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无向图、有向图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040256" y="1595729"/>
            <a:ext cx="7508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中的每条边是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没有方向的（无向边）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，则图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图中的边是顶点的无序对，例如顶点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之间的边，记为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(v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都可以。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),(v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)}</a:t>
            </a: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7859" y="1674272"/>
            <a:ext cx="1801401" cy="1700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60460" y="3342082"/>
            <a:ext cx="84804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1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0290" y="3978483"/>
            <a:ext cx="1812159" cy="1711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25585" y="5559948"/>
            <a:ext cx="84804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</a:t>
            </a:r>
            <a:r>
              <a:rPr lang="en-US" altLang="zh-CN" sz="16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128110" y="3931933"/>
            <a:ext cx="80921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中的每条边是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有方向的（有向边）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，则图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图中的边是顶点的有序对，例如顶点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之间的边，只能记为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&lt;v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G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E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={&lt;v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&gt;,&lt;v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&gt;}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有向边也称为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称为从顶点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的弧，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弧尾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（初始点），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是弧头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（终端点）。顶点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简单图、多重图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90918" y="4706509"/>
            <a:ext cx="620716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简单图：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）不存在重复的边；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）不存在顶点到自身的边。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3770" y="2062189"/>
            <a:ext cx="1828092" cy="2090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59063" y="2062188"/>
            <a:ext cx="1844457" cy="2109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644947" y="2062189"/>
            <a:ext cx="2091185" cy="2091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06141" y="2029917"/>
            <a:ext cx="2198763" cy="2198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24984" y="1147508"/>
            <a:ext cx="6207162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数据结构只探讨简单图。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度、入度和出度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797414" y="1317811"/>
            <a:ext cx="70570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顶点的度：与该顶点关联的边的条数，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)=0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无向图中全部顶点的度的和等于边数乘以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4379" y="954125"/>
            <a:ext cx="2059584" cy="2354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9832" y="3794146"/>
            <a:ext cx="1973523" cy="2256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799238" y="4202641"/>
            <a:ext cx="63344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）入度：以该顶点为终点的边的条数，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)=1    in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）出度：以该顶点为起点的边的条数，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)=2   out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顶点的度是该顶点的入度和出度之和，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)=ID(v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)+OD(v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)=3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有向图中全部顶点的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入度之和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出度之和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路径、回路、连通、强连通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797413" y="1317811"/>
            <a:ext cx="760569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：从顶点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的顶点序列。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回路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：第一个顶点和最后一个顶点相同的路径称为回路或环。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简单路径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：在路径的序列中，顶点没有重复的出现。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简单回路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：除第一个顶点和最后一个顶点外，其它顶点没有重复出现。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路径长度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：路径上边的条数。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顶点到顶点的距离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：顶点之间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的长度，如果不存在路径，记为无穷（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∞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在无向图中，如果顶点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有路径，表示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在有向图中，如果顶点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都有路径，表示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强连通的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5438" y="1083218"/>
            <a:ext cx="1812157" cy="2072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7708" y="3837186"/>
            <a:ext cx="1931578" cy="2208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连通图、强连通图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087412" y="1586752"/>
            <a:ext cx="46073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：任意两个顶点都是连通的。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的连通图，最少有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条边。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的非连通图，最多可能有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1648" y="3342323"/>
            <a:ext cx="1809276" cy="206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132239" y="3890682"/>
            <a:ext cx="5140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强连通图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：任意两个顶点都是强连通的。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的强连通图，最少有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条边。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的强连通图，最多可能有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2*C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+n-1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条边。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8618" y="1029428"/>
            <a:ext cx="1912766" cy="2187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328505" y="1614264"/>
            <a:ext cx="2740655" cy="112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343983" y="1676345"/>
            <a:ext cx="1232414" cy="1163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181724" y="3741812"/>
            <a:ext cx="1574209" cy="1486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053526" y="3720286"/>
            <a:ext cx="1564733" cy="1477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子图、生成子图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7560" y="1740907"/>
            <a:ext cx="1881822" cy="177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68129" y="1819462"/>
            <a:ext cx="3967834" cy="113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751850" y="1816210"/>
            <a:ext cx="1758371" cy="1660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581802" y="4125605"/>
            <a:ext cx="460735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生成子图包含了原图的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全部顶点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若干条边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连通分量、强连通分量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2968" y="2207219"/>
            <a:ext cx="2004902" cy="1224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8034" y="2205992"/>
            <a:ext cx="3469453" cy="116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952" y="3781297"/>
            <a:ext cx="92946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有向图中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的强连通子图称之为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强连通分量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（是强连通子图  每个强连通子图尽可能包含更多的顶点和边）。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79951" y="1588553"/>
            <a:ext cx="9744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无向图中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的连通子图称之为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连通分量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（是连通子图  每个连通子图尽可能包含更多的顶点和边）。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12272" y="4602417"/>
            <a:ext cx="1737751" cy="1542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030207" y="4579065"/>
            <a:ext cx="1655918" cy="156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33480" y="5005392"/>
            <a:ext cx="5238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182771" y="5026739"/>
            <a:ext cx="4953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830565" y="6203574"/>
            <a:ext cx="3290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注意，不要把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理解为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5" y="1427183"/>
            <a:ext cx="9423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在无向连通图中，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生成树是指包含了全部顶点的极小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连通子图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（连通图  全部顶点 边最少）。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生成树包含全部的顶点和尽可能少的边（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7674" y="2560207"/>
            <a:ext cx="1490831" cy="165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4356" y="2560207"/>
            <a:ext cx="1512345" cy="1676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54675" y="2560207"/>
            <a:ext cx="1576892" cy="1747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01145" y="2560207"/>
            <a:ext cx="1464831" cy="1623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8212" y="4444179"/>
            <a:ext cx="5791703" cy="2110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生成森林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5" y="1427183"/>
            <a:ext cx="942369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在无向非连通图中，连通分量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的生成树构成生成森林。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3926" y="2409601"/>
            <a:ext cx="3887321" cy="1646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72293" y="2302024"/>
            <a:ext cx="4285354" cy="1815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带权图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5" y="1427183"/>
            <a:ext cx="9423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在一个图中，边可以表示某种含义的数值，如顶点之间的距离，该数值称为该边的权值。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图的边如果带上了权值，该图称为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带权图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03467" y="5645973"/>
            <a:ext cx="942369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带权图中，某条路径上全部的边的权值之和，称为该路径的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带权路径长度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3274" y="2436160"/>
            <a:ext cx="2334446" cy="299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几种特殊的图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完全图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023358" y="1586752"/>
            <a:ext cx="4607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无向完全图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：图中任意两个顶点都存在一条边。顶点数为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的无向完全图有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n*(n-1)/2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3163" y="1452954"/>
            <a:ext cx="23907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0891" y="3701303"/>
            <a:ext cx="2390775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928332" y="4009026"/>
            <a:ext cx="4607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有向完全图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：图中任意两个顶点都存在方向相反的两条边。顶点数为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的有向完全图有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2*C</a:t>
            </a:r>
            <a:r>
              <a:rPr lang="en-US" altLang="zh-CN" sz="16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zh-CN" altLang="en-US" sz="1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几种特殊的图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稀疏图和稠密图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162287" y="4009026"/>
            <a:ext cx="6373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边很少的图（例如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|E|&lt;nlogn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）的图称为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，反之称为稠密图。</a:t>
            </a:r>
            <a:endParaRPr lang="en-US" altLang="zh-CN" sz="16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0212" y="1221498"/>
            <a:ext cx="6584239" cy="238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几种特殊的图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树、森林、有向树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6" y="1427183"/>
            <a:ext cx="3754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：不存在回路的连通无向图。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63489" y="2140659"/>
            <a:ext cx="4285354" cy="1815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3118" y="2140659"/>
            <a:ext cx="1652195" cy="1831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112136" y="1427183"/>
            <a:ext cx="3754420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森林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85134" y="4344299"/>
            <a:ext cx="37544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有向树：</a:t>
            </a:r>
            <a:endParaRPr lang="en-US" altLang="zh-CN" sz="16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）有且仅有一个结点的入度为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）除树根外的结点入度为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）从树根到任一结点有一条有向通路。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73197" y="4623941"/>
            <a:ext cx="1790643" cy="1690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28214" y="4438762"/>
            <a:ext cx="1723072" cy="1886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03172" y="2505917"/>
            <a:ext cx="1575168" cy="1420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4250" y="1177479"/>
            <a:ext cx="5143500" cy="5330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图的存储结构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32331" y="1624405"/>
            <a:ext cx="3555086" cy="27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38923" y="5455940"/>
            <a:ext cx="427974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,E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={A,B,C,D,E}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E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={(A,B),(A,C),(A,D),(C,D),(C,E),(D,E)}</a:t>
            </a: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41523" y="1161826"/>
            <a:ext cx="8057479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图的数组表示法（邻接矩阵）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，一维数组存放图的顶点集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，二维数组存放图的边集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#define   MAXVNUM  100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顶点的最大数值。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char VertType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自定义顶点的数据类型。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struct</a:t>
            </a: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VertType   vexs[MAXVNUM]; 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顶点表。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int             edges[MAXVNUM] [MAXVNUM];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边表（邻接矩阵）。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int             vexnum,arcnum;  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图的顶点数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|V|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和边数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 MGraph;</a:t>
            </a:r>
            <a:endParaRPr lang="en-US" altLang="zh-CN" sz="15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677923" y="3807090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4979" y="3860147"/>
            <a:ext cx="1585602" cy="149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1077" y="3827874"/>
            <a:ext cx="1631173" cy="1540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329086" y="5490006"/>
            <a:ext cx="448235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G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=(V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,E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={A,B,C,D,E}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E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={&lt;A,B&gt;,&lt;B,A&gt;,&lt;C,A&gt;,&lt;D,E&gt;&lt;E,C&gt;&lt;C,D&gt;}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703697" y="3819636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21803" y="4487752"/>
            <a:ext cx="7679166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顶点数为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G=(V,E)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的邻接矩阵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的大小是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n*n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。若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的顶点编号为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,……,v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677923" y="185989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4979" y="1912949"/>
            <a:ext cx="1585602" cy="149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1077" y="1880676"/>
            <a:ext cx="1631173" cy="1540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703697" y="1872438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60264" y="1380551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653605" y="1339313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9989" y="5039733"/>
            <a:ext cx="52768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21803" y="5251570"/>
            <a:ext cx="275216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677923" y="2914176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4979" y="2967233"/>
            <a:ext cx="1585602" cy="149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1077" y="2934960"/>
            <a:ext cx="1631173" cy="1540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703697" y="292672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60264" y="2434835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653605" y="2393597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662569" y="1294511"/>
            <a:ext cx="445007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在有向图的邻接矩阵中，顶点的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出度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为顶点所在的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中非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元素的个数，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入度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为顶点所在的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中非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元素的个数。顶点的度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顶点的出度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顶点的入度。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565232" y="1285540"/>
            <a:ext cx="434071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在无向图的邻接矩阵中，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顶点的度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为该顶点所在的行或列中非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元素的个数。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邻接矩阵（带权图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网）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677923" y="1623216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703697" y="163576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∞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60264" y="1143875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653605" y="1102637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6477" y="1781582"/>
            <a:ext cx="1813805" cy="171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6510" y="1614559"/>
            <a:ext cx="1857486" cy="1879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41523" y="3969664"/>
            <a:ext cx="94774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#define   MAXVNUM  100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顶点的最大数值。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#define   INFINITY       int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的最大值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宏定义常量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，也可以用边的权值中不可能出现的其它值。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char VertType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自定义顶点的数据类型。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int    EdgeType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自定义边上权值的数据类型。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struct</a:t>
            </a: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VertType    vexs[MAXVNUM]; 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顶点表。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EdgeType   edges[MAXVNUM] [MAXVNUM];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边的权（邻接矩阵）。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int              vexnum,arcnum;   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图的顶点数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|V|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和边数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 MGraph;</a:t>
            </a:r>
            <a:endParaRPr lang="en-US" altLang="zh-CN" sz="15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邻接矩阵的效率分析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21803" y="4487752"/>
            <a:ext cx="767916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）邻接矩阵的空间复杂度为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1500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</a:t>
            </a:r>
            <a:r>
              <a:rPr lang="en-US" altLang="zh-CN" sz="1500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，只与顶点数有关，和边数无关；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）适合存储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稠密图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）无向图的邻接矩阵是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，可以压缩存储。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677923" y="185989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4979" y="1912949"/>
            <a:ext cx="1585602" cy="149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11077" y="1880676"/>
            <a:ext cx="1631173" cy="1540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703697" y="1872438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60264" y="1380551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653605" y="1339313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邻接矩阵的性质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551407" y="3679096"/>
            <a:ext cx="4636545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(0,3)=a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0,0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0,3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0,3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3,3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+a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0,4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=   0     +   1     +    1    +    0    +   1 = 3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之间的没有路径，记为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之间没有路径，记为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0,0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经过顶点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之间没有路径。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baseline="-25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之间有路径，记为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之间有路径，记为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0,1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表示从顶点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经过顶点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之间有路径。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73798" y="5671054"/>
            <a:ext cx="480866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n≥2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）个顶点的图的邻接矩阵为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sz="1500" b="1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中位于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列的元素的含义是图中从顶点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的长度为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的路径条数。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483364" y="3484361"/>
          <a:ext cx="187302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400"/>
                <a:gridCol w="307482"/>
                <a:gridCol w="325565"/>
                <a:gridCol w="325570"/>
                <a:gridCol w="307482"/>
                <a:gridCol w="316524"/>
              </a:tblGrid>
              <a:tr h="342638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</a:tr>
              <a:tr h="34263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4263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4263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4263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342638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465024" y="3496864"/>
          <a:ext cx="190350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26"/>
                <a:gridCol w="312485"/>
                <a:gridCol w="330864"/>
                <a:gridCol w="330868"/>
                <a:gridCol w="312485"/>
                <a:gridCol w="321675"/>
              </a:tblGrid>
              <a:tr h="28139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</a:tr>
              <a:tr h="28139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28139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</a:tr>
              <a:tr h="28139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</a:tr>
              <a:tr h="28139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28139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0280" y="1089436"/>
            <a:ext cx="8713787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图的存储结构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623" y="1624405"/>
            <a:ext cx="3555086" cy="27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623" y="1624405"/>
            <a:ext cx="3555086" cy="27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图的存储结构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725318" y="2054710"/>
            <a:ext cx="17750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顺序存储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（数组 ）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5318" y="2626672"/>
            <a:ext cx="35482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顺序存储</a:t>
            </a:r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+</a:t>
            </a:r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链式存储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（数组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+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链表 ）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3471" y="1514985"/>
            <a:ext cx="1607762" cy="151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04215" y="1188794"/>
            <a:ext cx="3524280" cy="1489859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顶点的结构体。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typedef struct VNode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  <a:endParaRPr lang="zh-CN" altLang="en-US" sz="1500" dirty="0" smtClean="0">
              <a:solidFill>
                <a:srgbClr val="9900CC"/>
              </a:solidFill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VertType data; 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顶点的信息。</a:t>
            </a:r>
          </a:p>
          <a:p>
            <a:r>
              <a:rPr lang="zh-CN" altLang="en-US" sz="1500" dirty="0" smtClean="0">
                <a:latin typeface="Segoe UI" pitchFamily="34" charset="0"/>
                <a:ea typeface="Microsoft YaHei UI" pitchFamily="34" charset="-122"/>
                <a:cs typeface="Segoe UI" pitchFamily="34" charset="0"/>
              </a:rPr>
              <a:t>  </a:t>
            </a:r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ArcNode *first;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顶点的第一条边。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}VNode;</a:t>
            </a:r>
          </a:p>
        </p:txBody>
      </p:sp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04215" y="2858042"/>
            <a:ext cx="5704500" cy="177848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边链表的结构体。</a:t>
            </a:r>
            <a:endParaRPr lang="en-US" altLang="zh-CN" sz="1500" dirty="0" smtClean="0">
              <a:solidFill>
                <a:srgbClr val="99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typedef struct ArcNode</a:t>
            </a:r>
            <a:endParaRPr lang="zh-CN" altLang="en-US" sz="1500" dirty="0" smtClean="0">
              <a:solidFill>
                <a:srgbClr val="9900CC"/>
              </a:solidFill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int  adjvex;     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              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边指向的顶点的数组下标（伪指针）。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InfoType  info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;                  // 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边相关的信息（权值）</a:t>
            </a:r>
            <a:endParaRPr lang="en-US" altLang="zh-CN" sz="1500" dirty="0" smtClean="0"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zh-CN" altLang="en-US" sz="1500" dirty="0" smtClean="0">
                <a:latin typeface="Segoe UI" pitchFamily="34" charset="0"/>
                <a:ea typeface="Microsoft YaHei UI" pitchFamily="34" charset="-122"/>
                <a:cs typeface="Segoe UI" pitchFamily="34" charset="0"/>
              </a:rPr>
              <a:t>  </a:t>
            </a:r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struct ArcNode *next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;       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指向下一条边的指针。</a:t>
            </a:r>
            <a:endParaRPr lang="en-US" altLang="zh-CN" sz="1500" dirty="0" smtClean="0">
              <a:solidFill>
                <a:srgbClr val="9900CC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}ArcNode;</a:t>
            </a:r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04215" y="4882346"/>
            <a:ext cx="5028560" cy="177848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图的结构体。</a:t>
            </a:r>
            <a:endParaRPr lang="en-US" altLang="zh-CN" sz="15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typedef struct</a:t>
            </a:r>
            <a:endParaRPr lang="zh-CN" altLang="en-US" sz="1500" dirty="0" smtClean="0">
              <a:solidFill>
                <a:srgbClr val="9900CC"/>
              </a:solidFill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VNode vexs[MAXVNUM];  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顶点的数组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Microsoft YaHei UI" pitchFamily="34" charset="-122"/>
                <a:cs typeface="Segoe UI" pitchFamily="34" charset="0"/>
              </a:rPr>
              <a:t>。</a:t>
            </a:r>
            <a:endParaRPr lang="en-US" altLang="zh-CN" sz="1500" dirty="0" smtClean="0">
              <a:solidFill>
                <a:srgbClr val="9900CC"/>
              </a:solidFill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int        vexnum,arcnum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  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图的顶点数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|V|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和边数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|E|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。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}ALGraph;</a:t>
            </a:r>
          </a:p>
        </p:txBody>
      </p:sp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579" y="3544135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1271" y="3272460"/>
            <a:ext cx="494347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树的存储结构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04181" y="1097276"/>
            <a:ext cx="9661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 孩子表示法</a:t>
            </a: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是将每个结点的孩子存放在一个单链表中，</a:t>
            </a:r>
            <a:r>
              <a:rPr lang="en-US" altLang="zh-CN" dirty="0" smtClean="0">
                <a:latin typeface="Microsoft YaHei UI" pitchFamily="34" charset="-122"/>
                <a:ea typeface="Microsoft YaHei UI" pitchFamily="34" charset="-122"/>
              </a:rPr>
              <a:t>n</a:t>
            </a: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个结点就有</a:t>
            </a:r>
            <a:r>
              <a:rPr lang="en-US" altLang="zh-CN" dirty="0" smtClean="0">
                <a:latin typeface="Microsoft YaHei UI" pitchFamily="34" charset="-122"/>
                <a:ea typeface="Microsoft YaHei UI" pitchFamily="34" charset="-122"/>
              </a:rPr>
              <a:t>n</a:t>
            </a: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个孩子链表（叶结点的孩子链表为空表）。</a:t>
            </a:r>
            <a:endParaRPr lang="en-US" altLang="zh-CN" dirty="0" smtClean="0"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87569" y="2038649"/>
            <a:ext cx="5632779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#define  MAXSIZE  50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树中结点的最大值。</a:t>
            </a:r>
          </a:p>
          <a:p>
            <a:endParaRPr lang="zh-CN" altLang="en-US" sz="1500" dirty="0" smtClean="0">
              <a:latin typeface="Microsoft YaHei UI" pitchFamily="34" charset="-122"/>
              <a:ea typeface="Microsoft YaHei UI" pitchFamily="34" charset="-122"/>
            </a:endParaRP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typedef struct  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孩子结点的单链表。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{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  int child;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孩子结点的数组下标。</a:t>
            </a:r>
          </a:p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  </a:t>
            </a:r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struct CNode *next;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链表的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next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指针。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}CNode;</a:t>
            </a:r>
          </a:p>
          <a:p>
            <a:endParaRPr lang="en-US" altLang="zh-CN" sz="1500" dirty="0" smtClean="0">
              <a:latin typeface="Microsoft YaHei UI" pitchFamily="34" charset="-122"/>
              <a:ea typeface="Microsoft YaHei UI" pitchFamily="34" charset="-122"/>
            </a:endParaRP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typedef struct 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 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结点的结构体。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{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  ElemType data;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数据元素。</a:t>
            </a:r>
          </a:p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  </a:t>
            </a:r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CNode *child; 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孩子结点的单链表。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}PNode;</a:t>
            </a:r>
          </a:p>
          <a:p>
            <a:endParaRPr lang="en-US" altLang="zh-CN" sz="1500" dirty="0" smtClean="0">
              <a:latin typeface="Microsoft YaHei UI" pitchFamily="34" charset="-122"/>
              <a:ea typeface="Microsoft YaHei UI" pitchFamily="34" charset="-122"/>
            </a:endParaRP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typedef struct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  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树的结构体。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{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  PNode nodes[MAXSIZE];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树的结点。</a:t>
            </a:r>
          </a:p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  </a:t>
            </a:r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int nn;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 // 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树中的结点数量。</a:t>
            </a:r>
          </a:p>
          <a:p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}CTree;</a:t>
            </a: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750885" y="5258197"/>
            <a:ext cx="41437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求孩子结点的时间复杂度是</a:t>
            </a:r>
            <a:r>
              <a:rPr lang="en-US" altLang="zh-CN" dirty="0" smtClean="0">
                <a:latin typeface="Microsoft YaHei UI" pitchFamily="34" charset="-122"/>
                <a:ea typeface="Microsoft YaHei UI" pitchFamily="34" charset="-122"/>
              </a:rPr>
              <a:t>O(1)</a:t>
            </a: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。</a:t>
            </a:r>
            <a:endParaRPr lang="en-US" altLang="zh-CN" dirty="0" smtClean="0">
              <a:latin typeface="Microsoft YaHei UI" pitchFamily="34" charset="-122"/>
              <a:ea typeface="Microsoft YaHei UI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求双亲结点的时间复杂度是</a:t>
            </a:r>
            <a:r>
              <a:rPr lang="en-US" altLang="zh-CN" dirty="0" smtClean="0">
                <a:latin typeface="Microsoft YaHei UI" pitchFamily="34" charset="-122"/>
                <a:ea typeface="Microsoft YaHei UI" pitchFamily="34" charset="-122"/>
              </a:rPr>
              <a:t>O(n)</a:t>
            </a:r>
            <a:r>
              <a:rPr lang="zh-CN" altLang="en-US" dirty="0" smtClean="0">
                <a:latin typeface="Microsoft YaHei UI" pitchFamily="34" charset="-122"/>
                <a:ea typeface="Microsoft YaHei UI" pitchFamily="34" charset="-122"/>
              </a:rPr>
              <a:t>。</a:t>
            </a:r>
            <a:endParaRPr lang="en-US" altLang="zh-CN" dirty="0" smtClean="0"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5240" y="1707050"/>
            <a:ext cx="2702458" cy="1348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3471" y="1547259"/>
            <a:ext cx="1607762" cy="151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896940" y="993263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877218" y="3824317"/>
            <a:ext cx="85702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有向图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4379" y="4441062"/>
            <a:ext cx="1898220" cy="179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477026" y="1613605"/>
            <a:ext cx="3714974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）边链表的结点总数是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2|E|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）空间复杂度是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O(|V|+2|E|)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）求顶点度的时间复杂度是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O(1) ~O(|E|)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477026" y="4466200"/>
            <a:ext cx="3714974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）边链表的结点总数是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）空间复杂度是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O(|V|+|E|)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）求顶点出度的时间复杂度是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O(1) ~O(|E|)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，入度是</a:t>
            </a: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O(|E|)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90764" y="1500196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90764" y="4318692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451098" y="2773626"/>
            <a:ext cx="1631172" cy="154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654110" y="3139386"/>
            <a:ext cx="1726098" cy="162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 </a:t>
            </a:r>
            <a:r>
              <a:rPr lang="en-US" altLang="zh-CN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vs </a:t>
            </a: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8949180" y="130056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4072" y="1267555"/>
            <a:ext cx="2029933" cy="19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827126" y="4011499"/>
          <a:ext cx="10371588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926"/>
                <a:gridCol w="4858466"/>
                <a:gridCol w="3457196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邻接表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邻接矩阵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空间复杂度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无向图</a:t>
                      </a:r>
                      <a:r>
                        <a:rPr lang="en-US" altLang="zh-CN" dirty="0" smtClean="0"/>
                        <a:t>O(|V|+2|E|)</a:t>
                      </a:r>
                      <a:r>
                        <a:rPr lang="zh-CN" altLang="en-US" dirty="0" smtClean="0"/>
                        <a:t>，有向图</a:t>
                      </a:r>
                      <a:r>
                        <a:rPr lang="en-US" altLang="zh-CN" dirty="0" smtClean="0"/>
                        <a:t>O(|V|+|E|)</a:t>
                      </a:r>
                      <a:r>
                        <a:rPr lang="zh-CN" altLang="en-US" dirty="0" smtClean="0"/>
                        <a:t>，适合存储稀疏图。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O(|V|</a:t>
                      </a:r>
                      <a:r>
                        <a:rPr lang="en-US" altLang="zh-CN" baseline="30000" dirty="0" smtClean="0"/>
                        <a:t>2</a:t>
                      </a:r>
                      <a:r>
                        <a:rPr lang="en-US" altLang="zh-CN" dirty="0" smtClean="0"/>
                        <a:t>)</a:t>
                      </a:r>
                      <a:r>
                        <a:rPr lang="zh-CN" altLang="en-US" dirty="0" smtClean="0"/>
                        <a:t>，适合存储稠密图。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表示方式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边链表结点的顺序是任意的，不唯一。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矩阵是固定的，唯一。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求度、出度、入度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求无向图的度和有向图的出度的时间复杂度是</a:t>
                      </a:r>
                      <a:r>
                        <a:rPr lang="en-US" altLang="zh-CN" dirty="0" smtClean="0"/>
                        <a:t>O(1)</a:t>
                      </a:r>
                      <a:r>
                        <a:rPr lang="zh-CN" altLang="en-US" dirty="0" smtClean="0"/>
                        <a:t>，求有向图的入度是</a:t>
                      </a:r>
                      <a:r>
                        <a:rPr lang="en-US" altLang="zh-CN" dirty="0" smtClean="0"/>
                        <a:t>O(|E|)</a:t>
                      </a:r>
                      <a:r>
                        <a:rPr lang="zh-CN" altLang="en-US" dirty="0" smtClean="0"/>
                        <a:t>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遍历矩阵的行或列，时间复杂度是</a:t>
                      </a:r>
                      <a:r>
                        <a:rPr lang="en-US" altLang="zh-CN" dirty="0" smtClean="0"/>
                        <a:t>O(|V|)</a:t>
                      </a:r>
                      <a:r>
                        <a:rPr lang="zh-CN" altLang="en-US" dirty="0" smtClean="0"/>
                        <a:t>。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73652" y="1263511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图的存储结构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908176" y="2097735"/>
            <a:ext cx="17750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顺序存储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（数组 ）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8176" y="2669697"/>
            <a:ext cx="35482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顺序存储</a:t>
            </a:r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+</a:t>
            </a:r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链式存储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（数组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+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链表 ）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20722" y="3252417"/>
            <a:ext cx="34173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适用于有向图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11752" y="3878169"/>
            <a:ext cx="15347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适用于无向图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49445" y="1688953"/>
            <a:ext cx="3555086" cy="27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有向图邻接表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1493" y="1461096"/>
            <a:ext cx="1898220" cy="179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477026" y="1486234"/>
            <a:ext cx="3528508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）边链表的结点总数是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）空间复杂度是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O(|V|+|E|)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）求顶点出度的时间复杂度是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O(1) ~O(|E|)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，入度是</a:t>
            </a: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O(|E|)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solidFill>
                <a:schemeClr val="bg2">
                  <a:lumMod val="1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6642" y="3585821"/>
            <a:ext cx="9335845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为了解决有向图中求顶点入度的问题，可以创建一个保存入度的邻接表。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3281" y="4346028"/>
            <a:ext cx="1898220" cy="179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19861" y="1360304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19861" y="4350965"/>
            <a:ext cx="386715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31547" y="1081704"/>
            <a:ext cx="43053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十字链表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84831" y="3245114"/>
            <a:ext cx="1898218" cy="1792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02404" y="1233095"/>
            <a:ext cx="46386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99215" y="3095220"/>
            <a:ext cx="7383147" cy="3687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78945" y="5315956"/>
            <a:ext cx="520670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）边链表的结点总数是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）空间复杂度是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O(|V|+|E|)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）求顶点出度和出度的时间复杂度都是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O(1) ~O(|E|)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256525" y="1081704"/>
            <a:ext cx="505777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图的存储结构</a:t>
            </a:r>
            <a:endParaRPr lang="en-US" altLang="zh-CN" sz="2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908176" y="2097735"/>
            <a:ext cx="177501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顺序存储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（数组 ）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08176" y="2669697"/>
            <a:ext cx="35482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顺序存储</a:t>
            </a:r>
            <a:r>
              <a:rPr lang="en-US" altLang="zh-CN" sz="1500" dirty="0" smtClean="0">
                <a:latin typeface="Microsoft YaHei UI" pitchFamily="34" charset="-122"/>
                <a:ea typeface="Microsoft YaHei UI" pitchFamily="34" charset="-122"/>
              </a:rPr>
              <a:t>+</a:t>
            </a:r>
            <a:r>
              <a:rPr lang="zh-CN" altLang="en-US" sz="1500" dirty="0" smtClean="0">
                <a:latin typeface="Microsoft YaHei UI" pitchFamily="34" charset="-122"/>
                <a:ea typeface="Microsoft YaHei UI" pitchFamily="34" charset="-122"/>
              </a:rPr>
              <a:t>链式存储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（数组</a:t>
            </a:r>
            <a:r>
              <a:rPr lang="en-US" altLang="zh-CN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+</a:t>
            </a:r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链表 ）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20722" y="3252417"/>
            <a:ext cx="341735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适用于有向图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11752" y="3878169"/>
            <a:ext cx="15347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 smtClean="0">
                <a:solidFill>
                  <a:srgbClr val="9900CC"/>
                </a:solidFill>
                <a:latin typeface="Microsoft YaHei UI" pitchFamily="34" charset="-122"/>
                <a:ea typeface="Microsoft YaHei UI" pitchFamily="34" charset="-122"/>
              </a:rPr>
              <a:t>适用于无向图</a:t>
            </a:r>
            <a:endParaRPr lang="zh-CN" altLang="en-US" sz="1500" dirty="0">
              <a:solidFill>
                <a:srgbClr val="9900CC"/>
              </a:solidFill>
              <a:latin typeface="Microsoft YaHei UI" pitchFamily="34" charset="-122"/>
              <a:ea typeface="Microsoft YaHei UI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623" y="1624405"/>
            <a:ext cx="3555086" cy="2731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00243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邻接表、邻接矩阵存储无向图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49063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50851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52639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50851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52639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54427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45457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3471" y="1504227"/>
            <a:ext cx="1607762" cy="151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8054" y="1338817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57931" y="3648521"/>
            <a:ext cx="207622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空间复杂度太高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8949180" y="128980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251053" y="3542741"/>
            <a:ext cx="402330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）边链表结点有冗余。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）删除边和顶点操作很麻烦，时间复杂度高。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邻接多重表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4438" y="1087863"/>
            <a:ext cx="94107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7866" y="3612728"/>
            <a:ext cx="2064112" cy="1948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38817" y="3189364"/>
            <a:ext cx="8096250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78945" y="5681728"/>
            <a:ext cx="520670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）边链表的结点总数是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）空间复杂度是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O(|V|+|E|)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     邻接表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O(|V|+2|E|)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删除边和顶点操作很方便。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09251" y="1312432"/>
            <a:ext cx="94236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EdgeExist(G,v,w)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中是否存在从顶点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AllAdjVex(G,v)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列出图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邻接的边。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中插入顶点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中删除顶点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InsertEdge(G,v,w)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中插入一条从顶点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DeleteEdge(G,v,w)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中删除从从顶点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FirstAdjVex(G,v)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求图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的第一个邻接顶点，若存在则返回第一个邻接顶点，否则返回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NextAdjVex(G,v,w)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求图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（相对于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）的下一个邻接点，若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的最后一个邻接点，则返回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1328" y="1576331"/>
            <a:ext cx="29718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73325" y="4333655"/>
            <a:ext cx="2454478" cy="2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8175820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EdgeExist(G,v,w)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中是否存在从顶点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(v,w)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&lt;v,w&gt;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(C,D)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56" y="2253228"/>
            <a:ext cx="2086898" cy="1970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36416" y="2253228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9271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O(1)   O(1)~O(|V|)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81758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EdgeExist(G,v,w)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判断图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中是否存在从顶点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(v,w)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&lt;v,w&gt;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&lt;C,D&gt;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9271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O(1)    O(1)~O(|V|)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8618" y="2311046"/>
            <a:ext cx="1984360" cy="1873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76253" y="2263982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46541" y="4274932"/>
            <a:ext cx="252412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6519143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AllAdjVex(G,v)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列出图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邻接的边。</a:t>
            </a: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9271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          O(1)~O(|V|)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56" y="2253228"/>
            <a:ext cx="2086898" cy="1970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6416" y="2253228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6519143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AllAdjVex(G,v)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列出图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邻接的边。</a:t>
            </a: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10734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     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O(1)~O(|V|)  +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入边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O(|E|)   O(max(|V|,|E|))</a:t>
            </a: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8618" y="2311046"/>
            <a:ext cx="1984360" cy="1873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76253" y="2263982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6519143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中插入顶点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9271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O(1)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56" y="2253228"/>
            <a:ext cx="2086898" cy="1970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6416" y="2253228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86587" y="1193138"/>
            <a:ext cx="8057479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图的数组表示法（邻接矩阵）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，一维数组存放图的顶点集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，二维数组存放图的边集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#define   MAXVNUM  100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顶点的最大数值。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char VertType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自定义顶点的数据类型。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struct</a:t>
            </a: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VertType   vexs[MAXVNUM]; 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顶点表。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int             edges[MAXVNUM] [MAXVNUM];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边表（邻接矩阵）。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int             vexnum,arcnum;                             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图的顶点数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|V|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和边数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|E|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 MGraph;</a:t>
            </a: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14646" y="4129285"/>
            <a:ext cx="5028560" cy="1778483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图的结构体。</a:t>
            </a:r>
            <a:endParaRPr lang="en-US" altLang="zh-CN" sz="1500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typedef struct</a:t>
            </a:r>
            <a:endParaRPr lang="zh-CN" altLang="en-US" sz="1500" dirty="0" smtClean="0">
              <a:solidFill>
                <a:srgbClr val="9900CC"/>
              </a:solidFill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{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  VNode vexs[MAXVNUM];  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顶点的数组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Microsoft YaHei UI" pitchFamily="34" charset="-122"/>
                <a:cs typeface="Segoe UI" pitchFamily="34" charset="0"/>
              </a:rPr>
              <a:t>。</a:t>
            </a:r>
            <a:endParaRPr lang="en-US" altLang="zh-CN" sz="1500" dirty="0" smtClean="0">
              <a:solidFill>
                <a:srgbClr val="9900CC"/>
              </a:solidFill>
              <a:latin typeface="Segoe UI" pitchFamily="34" charset="0"/>
              <a:ea typeface="Microsoft YaHei UI" pitchFamily="34" charset="-122"/>
              <a:cs typeface="Segoe UI" pitchFamily="34" charset="0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int        vexnum,arcnum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      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// 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图的顶点数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|V|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和边数</a:t>
            </a:r>
            <a:r>
              <a:rPr lang="en-US" altLang="zh-CN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|E|</a:t>
            </a:r>
            <a:r>
              <a:rPr lang="zh-CN" altLang="en-US" sz="1500" dirty="0" smtClean="0">
                <a:solidFill>
                  <a:srgbClr val="9900CC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。</a:t>
            </a:r>
          </a:p>
          <a:p>
            <a:r>
              <a:rPr lang="en-US" altLang="zh-CN" sz="1500" dirty="0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}ALGraph;</a:t>
            </a: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672813" y="4556194"/>
            <a:ext cx="424376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G.vexs[G.vexnum]=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新顶点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G.vexnum++;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6519143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DeleteVex(G,v)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中删除顶点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 真删除   伪删除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9271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56" y="2253228"/>
            <a:ext cx="2086898" cy="1970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6416" y="2253228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-1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6519143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InsertEdge(G,v,w)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中插入一条从顶点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92713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56" y="2253228"/>
            <a:ext cx="2086898" cy="1970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6416" y="2253228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312432"/>
            <a:ext cx="6519143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InsertEdge(G,v,w)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在图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中插入一条从顶点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2847" y="4993456"/>
            <a:ext cx="107343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）邻接矩阵和邻接表实现该操作的方法？有向图和无向图的区别？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）邻接矩阵和邻接表实现该操作的最好和最坏时间复杂度？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O(1)  O(1)</a:t>
            </a: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334161" y="227474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3473524" y="227952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8618" y="2311046"/>
            <a:ext cx="1984360" cy="1873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76253" y="2263982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图的基本操作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75" y="1011208"/>
            <a:ext cx="102628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FirstAdjVex(G,v)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求图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的第一个邻接顶点，若存在则返回第一个邻接顶点，否则返回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NextAdjVex(G,v,w)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求图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（相对于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）的下一个邻接点，若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的最后一个邻接点，则返回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4334161" y="2156406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56" y="2134890"/>
            <a:ext cx="2086898" cy="1970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36416" y="2134890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3473524" y="2161183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4312645" y="4587714"/>
          <a:ext cx="223564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7338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3452008" y="4592491"/>
          <a:ext cx="66817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817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vexs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17102" y="4624016"/>
            <a:ext cx="1984360" cy="1873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54737" y="4576952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72583" y="3928414"/>
            <a:ext cx="2302136" cy="484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NextAdjVex(G,0,3)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72503" y="3286910"/>
            <a:ext cx="6408737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图的遍历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3308" y="2034260"/>
            <a:ext cx="46196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240358" y="2056401"/>
            <a:ext cx="16983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树的层次遍历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242146" y="2822007"/>
            <a:ext cx="169830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树的先序遍历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树的层次遍历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6539" y="1385890"/>
            <a:ext cx="3104422" cy="198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51823" y="4033446"/>
            <a:ext cx="41529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图的广度优先搜索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6973" y="3866749"/>
            <a:ext cx="43243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10601" y="1364374"/>
            <a:ext cx="3168967" cy="202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92146" y="1098834"/>
            <a:ext cx="6218854" cy="5424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图的广度优先搜索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37770" y="1106184"/>
            <a:ext cx="2448169" cy="156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2446" y="3005189"/>
            <a:ext cx="5013790" cy="291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19482" y="3005189"/>
            <a:ext cx="5769821" cy="365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475642" y="1453964"/>
            <a:ext cx="543261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如果是非连通图，调用一次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函数无法实现对图的遍历。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04442" y="1973468"/>
            <a:ext cx="43243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算法效率分析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6973" y="3866749"/>
            <a:ext cx="43243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586793" y="5263993"/>
            <a:ext cx="169830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586793" y="4372867"/>
            <a:ext cx="16983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O(|V|-1)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64827" y="1396814"/>
            <a:ext cx="2454478" cy="2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600265" y="4856995"/>
            <a:ext cx="297450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54233" y="1385893"/>
            <a:ext cx="2113371" cy="1995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算法效率分析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69618" y="3931828"/>
            <a:ext cx="94828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在遍历图时，对图中每个顶点进行访问，对果某顶点被标记成已访问，就不再从它出发进行搜索。因此，遍历图的过程实质上查找每个顶点和其邻接点的过程，耗费的时间取决于采用的存储结构。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在邻接矩阵中，查找每个顶点所需的时间是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，找邻接点所需的时间为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</a:t>
            </a:r>
            <a:r>
              <a:rPr lang="en-US" altLang="zh-CN" sz="1500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1500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在邻接表中，查找每个顶点的所需的时间为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，找邻接点所需的时间为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O(|E|)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，时间复杂度为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O(|V|+|E|)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3471" y="1504227"/>
            <a:ext cx="1607762" cy="151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8054" y="1338817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8949180" y="128980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广度优先生成树、生成森林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968384" y="135442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5296" y="1310587"/>
            <a:ext cx="2029933" cy="19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5642" y="1242059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8468" y="3860153"/>
            <a:ext cx="2199434" cy="2076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69978" y="3832075"/>
            <a:ext cx="1997336" cy="2106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911774" y="4007131"/>
            <a:ext cx="4828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广度优先生成树、生成森林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9366" y="4283896"/>
            <a:ext cx="1997336" cy="2106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157" y="1434913"/>
            <a:ext cx="4438650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54582" y="4559843"/>
            <a:ext cx="1253904" cy="96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90690" y="4799928"/>
            <a:ext cx="578494" cy="482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图的遍历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03308" y="2034260"/>
            <a:ext cx="46196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240358" y="2056401"/>
            <a:ext cx="16983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树的层次遍历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242146" y="2822007"/>
            <a:ext cx="169830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树的先序遍历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树的先序遍历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5036" y="1278315"/>
            <a:ext cx="3104422" cy="198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68255" y="3937738"/>
            <a:ext cx="4956843" cy="188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图的深度优先搜索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06381" y="1493456"/>
            <a:ext cx="3104421" cy="198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7003" y="3759261"/>
            <a:ext cx="43243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图的深度优先搜索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958120" y="135442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0329" y="4006724"/>
            <a:ext cx="7105650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4092" y="1514968"/>
            <a:ext cx="3104421" cy="198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图的深度优先搜索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4092" y="2181964"/>
            <a:ext cx="3104421" cy="1983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70127" y="1247437"/>
            <a:ext cx="7211127" cy="5433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算法效率分析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586793" y="5468395"/>
            <a:ext cx="1698300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586793" y="4372867"/>
            <a:ext cx="16983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9373" y="1213934"/>
            <a:ext cx="1970382" cy="166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600265" y="4856995"/>
            <a:ext cx="297450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54233" y="1385893"/>
            <a:ext cx="2113371" cy="1995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58328" y="5319119"/>
            <a:ext cx="43243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10140" y="3550133"/>
            <a:ext cx="1980919" cy="1773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892167" y="3135854"/>
            <a:ext cx="4273811" cy="378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DFS</a:t>
            </a: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算法效率分析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69618" y="3931828"/>
            <a:ext cx="94828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在遍历图时，对图中每个顶点进行访问，对果某顶点被标记成已访问，就不再从它出发进行搜索。因此，遍历图的过程实质上查找每个顶点和其邻接点的过程，耗费的时间取决于采用的存储结构。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在邻接矩阵中，查找每个顶点所需的时间是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，找邻接点所需的时间为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</a:t>
            </a:r>
            <a:r>
              <a:rPr lang="en-US" altLang="zh-CN" sz="1500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1500" baseline="30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在邻接表中，查找每个顶点的所需的时间为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，找邻接点所需的时间为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O(|E|)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，时间复杂度为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O(|V|+|E|)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33471" y="1504227"/>
            <a:ext cx="1607762" cy="1518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78054" y="1338817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8949180" y="128980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深度优先生成树、生成森林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968384" y="135442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5296" y="1310587"/>
            <a:ext cx="2029933" cy="19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5642" y="1242059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911774" y="4007131"/>
            <a:ext cx="4828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6045" y="3601964"/>
            <a:ext cx="1941250" cy="183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6841" y="3824625"/>
            <a:ext cx="2755458" cy="241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深度优先生成树、生成森林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0157" y="1241269"/>
            <a:ext cx="4288379" cy="2190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95952" y="3801876"/>
            <a:ext cx="3645160" cy="2818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有向图遍历注意事项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97841" y="1611798"/>
            <a:ext cx="69342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图的应用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0563" y="2024287"/>
            <a:ext cx="5238750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954802" y="2199846"/>
            <a:ext cx="372753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MST Minimum Cost Spanning Tree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5" y="1427183"/>
            <a:ext cx="9423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在无向连通图中，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生成树是指包含了全部顶点的极小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连通子图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生成树包含了原图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全部的顶点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（边少一条就不是连通图，多一条就会有回路）。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7674" y="2560207"/>
            <a:ext cx="1490831" cy="165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4356" y="2560207"/>
            <a:ext cx="1512345" cy="1676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54675" y="2560207"/>
            <a:ext cx="1576892" cy="1747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701145" y="2560207"/>
            <a:ext cx="1464831" cy="1623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88212" y="4444179"/>
            <a:ext cx="5791703" cy="2110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广度优先生成树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968384" y="135442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5296" y="1310587"/>
            <a:ext cx="2029933" cy="19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5642" y="1242059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8468" y="3860153"/>
            <a:ext cx="2199434" cy="2076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069978" y="3832075"/>
            <a:ext cx="1997336" cy="2106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911774" y="4007131"/>
            <a:ext cx="4828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深度优先生成树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968384" y="135442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5296" y="1310587"/>
            <a:ext cx="2029933" cy="1916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25642" y="1242059"/>
            <a:ext cx="4943475" cy="202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911774" y="4007131"/>
            <a:ext cx="48281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如果图的存储结构是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，从某顶点出发，遍历得到的生成树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不是唯一的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6045" y="3601964"/>
            <a:ext cx="1941250" cy="183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56841" y="3824625"/>
            <a:ext cx="2755458" cy="241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最小生成树（最小代价树）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1216" y="1463153"/>
            <a:ext cx="2452632" cy="2495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62780" y="4458922"/>
            <a:ext cx="562089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施工要求：全部约会地点要连通，而且成本最低（最小代价）。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4235" y="1525403"/>
            <a:ext cx="5443787" cy="2390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最小生成树（最小代价树）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1216" y="1463153"/>
            <a:ext cx="2452632" cy="2495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62780" y="4458922"/>
            <a:ext cx="562089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施工要求：全部约会地点要连通，而且成本最低（最小代价）。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4235" y="1525403"/>
            <a:ext cx="5443787" cy="2390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普里姆算法（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986140" y="1909359"/>
            <a:ext cx="5620899" cy="7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普里姆算法：从任意顶点开始构建生成树；然后依次将代价最小的其它顶点纳入生成树，直到所有的顶点都纳入为止。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1229" y="1398609"/>
            <a:ext cx="2484347" cy="2527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克鲁斯卡尔算法（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Kruskal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986140" y="1909359"/>
            <a:ext cx="5620899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克鲁斯卡尔算法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：每次选择一条权值最小的边，让这条边两端的顶点连通，如果这条边两端的顶点已连通，则不选。直到全部的顶点都连通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1229" y="1398609"/>
            <a:ext cx="2484347" cy="2527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vs Kruskal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128357" y="1483484"/>
          <a:ext cx="9941262" cy="2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0631"/>
                <a:gridCol w="4970631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普里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姆（</a:t>
                      </a:r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Prim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克鲁斯卡尔（</a:t>
                      </a:r>
                      <a:r>
                        <a:rPr lang="en-US" altLang="zh-CN" sz="18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Kruskal</a:t>
                      </a:r>
                      <a:r>
                        <a:rPr lang="zh-CN" altLang="en-US" sz="1800" b="1" kern="1200" dirty="0" smtClean="0">
                          <a:solidFill>
                            <a:schemeClr val="lt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从任意顶点开始构建生成树；然后依次将代价最小的其它顶点纳入生成树，直到所有的顶点都纳入为止。</a:t>
                      </a:r>
                      <a:r>
                        <a:rPr lang="zh-CN" altLang="en-US" sz="1800" dirty="0" smtClean="0">
                          <a:solidFill>
                            <a:srgbClr val="99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（按顶点构建生成树）</a:t>
                      </a:r>
                      <a:endParaRPr lang="zh-CN" altLang="en-US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每次选择一条权值最小的边，让这条边两端的顶点连通，如果这条边两端的顶点已连通，则不选。</a:t>
                      </a:r>
                      <a:r>
                        <a:rPr lang="zh-CN" altLang="en-US" sz="1800" dirty="0" smtClean="0">
                          <a:solidFill>
                            <a:srgbClr val="9900C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（按边构建生成树）</a:t>
                      </a:r>
                      <a:endParaRPr lang="zh-CN" altLang="en-US" dirty="0" smtClean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适用于稠密图（边多）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适用于稀疏图（边少）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时间复杂度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O(|V|</a:t>
                      </a:r>
                      <a:r>
                        <a:rPr lang="en-US" altLang="zh-CN" sz="1800" kern="1200" baseline="300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O(n</a:t>
                      </a:r>
                      <a:r>
                        <a:rPr lang="en-US" altLang="zh-CN" sz="1800" kern="1200" baseline="300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时间复杂度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O(|E|log</a:t>
                      </a:r>
                      <a:r>
                        <a:rPr lang="en-US" altLang="zh-CN" sz="1800" kern="1200" baseline="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|E|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altLang="en-US" sz="1800" kern="1200" dirty="0" smtClean="0">
                        <a:solidFill>
                          <a:schemeClr val="dk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算法的实现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00300" y="1495425"/>
            <a:ext cx="73914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Kruskal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算法的实现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396" y="1323313"/>
            <a:ext cx="3079227" cy="31411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2131" y="1261109"/>
            <a:ext cx="8570743" cy="4569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图的应用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1622" y="1664131"/>
            <a:ext cx="3485254" cy="21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221891" y="4340591"/>
            <a:ext cx="5620899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最短路径的应用主要有两种：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）单源最短路径：从某顶点发，到其它全部顶点的最短路径。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）顶点间的最短路径：全部顶点（每对）之间的最短路径。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最短路径的计算结果包括两个方面：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）从源顶点到目的顶点的路径长度；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）从源顶点到目的顶点之间的路径（途经顶点的序列）。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943974" y="2674948"/>
            <a:ext cx="756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售票处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42553" y="1739440"/>
            <a:ext cx="3315793" cy="2068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图的应用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0193" y="1913266"/>
            <a:ext cx="7008813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图的广度优先搜索 </a:t>
            </a:r>
            <a:r>
              <a:rPr lang="en-US" altLang="zh-CN" sz="28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endParaRPr lang="en-US" altLang="zh-CN" sz="2800" b="1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51268" y="859821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09294" y="861609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167320" y="863397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821770" y="861609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79796" y="863397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127064" y="865185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85090" y="856215"/>
            <a:ext cx="634676" cy="75303"/>
          </a:xfrm>
          <a:prstGeom prst="rect">
            <a:avLst/>
          </a:prstGeom>
          <a:solidFill>
            <a:schemeClr val="accent6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6973" y="3866749"/>
            <a:ext cx="43243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10601" y="1364374"/>
            <a:ext cx="3168967" cy="202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524447" y="4286793"/>
            <a:ext cx="32865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采用广度优先遍历（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）算法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无权图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的单源最短路径。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51551" y="1342845"/>
            <a:ext cx="3202519" cy="2045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8504" y="1177738"/>
            <a:ext cx="6162079" cy="541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-BFS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24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14565" y="1167075"/>
            <a:ext cx="32865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采用广度优先遍历（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）算法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无权图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的单源最短路径。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2983" y="2264100"/>
            <a:ext cx="3333697" cy="1640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7153" y="3994940"/>
            <a:ext cx="456247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图的应用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0193" y="1913266"/>
            <a:ext cx="7008813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-Dijkstra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1622" y="1664131"/>
            <a:ext cx="3485254" cy="21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943974" y="2674948"/>
            <a:ext cx="756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售票处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-Dijkstra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5665" y="1084114"/>
            <a:ext cx="5398802" cy="3638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20342" y="1463824"/>
            <a:ext cx="52959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56381" y="5330285"/>
            <a:ext cx="32865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图的应用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40193" y="1913266"/>
            <a:ext cx="7008813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35162" y="1145546"/>
            <a:ext cx="292608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求每对顶点之间的最短路径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094417" y="3957088"/>
            <a:ext cx="42210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Dijkstra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算法跑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次，时间复杂度为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</a:t>
            </a:r>
            <a:r>
              <a:rPr lang="en-US" altLang="zh-CN" sz="1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389582" y="1334843"/>
            <a:ext cx="6271708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Floyd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算法采用动态规划的思想，分多个阶段解决问题。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若图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个顶点（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~V</a:t>
            </a:r>
            <a:r>
              <a:rPr lang="en-US" altLang="zh-CN" sz="1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），求图中每一对顶点之间的最短路径分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个阶段：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）初始化，在没有其它顶点中转的情况下，求得各顶点间的最短路径。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）如果在各顶点间增加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作为中转点，求得各顶点间新的最短路径。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）再增加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作为中转点，求得各顶点间新的最短路径。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）再再增加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作为中转点，求得各顶点间新的最短路径。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）最后增加</a:t>
            </a: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作为中转点，求得各顶点间最终的最短路径。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1538" y="1664131"/>
            <a:ext cx="3485254" cy="2174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13890" y="2674948"/>
            <a:ext cx="75666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售票处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9276" y="1750188"/>
            <a:ext cx="3217571" cy="201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044149" y="1825219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8025832" y="1848526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598053" y="1285396"/>
            <a:ext cx="108245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541579" y="1287184"/>
            <a:ext cx="107576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59366" y="4245536"/>
            <a:ext cx="777190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为图的邻接矩阵；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中转顶点矩阵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全部置为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，表示还没有中转顶点。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743419" y="163157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8725102" y="165488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75807" y="1113268"/>
            <a:ext cx="13621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144027" y="1115056"/>
            <a:ext cx="147376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9485" y="3621572"/>
            <a:ext cx="27266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加入顶点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5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(kk==0)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5965" y="4172251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737648" y="4195558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5722" y="4194319"/>
            <a:ext cx="4714111" cy="218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2798" y="1470501"/>
            <a:ext cx="3152991" cy="19757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743419" y="163157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8725102" y="165488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9484" y="3621572"/>
            <a:ext cx="4501612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加入顶点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5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(kk==1)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5965" y="4172251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737648" y="4195558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5722" y="4194319"/>
            <a:ext cx="4714111" cy="218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9761" y="1481264"/>
            <a:ext cx="3164049" cy="1982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75807" y="1113268"/>
            <a:ext cx="13621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144027" y="1115056"/>
            <a:ext cx="147376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9484" y="3621572"/>
            <a:ext cx="395297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加入顶点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5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(kk==2)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5965" y="416149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737648" y="4184800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5722" y="4194319"/>
            <a:ext cx="4714111" cy="218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5790027" y="155984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771710" y="158315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8395" y="1405950"/>
            <a:ext cx="3314363" cy="2076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75807" y="1113268"/>
            <a:ext cx="13621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144027" y="1115056"/>
            <a:ext cx="147376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9485" y="3621572"/>
            <a:ext cx="357645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加入顶点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5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(kk==3)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5965" y="416149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737648" y="4184800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5722" y="4194319"/>
            <a:ext cx="4714111" cy="218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5757753" y="1549087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8739436" y="1572394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1424" y="1373675"/>
            <a:ext cx="3181217" cy="199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75807" y="1113268"/>
            <a:ext cx="13621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2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144027" y="1115056"/>
            <a:ext cx="147376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09484" y="3621572"/>
            <a:ext cx="32967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加入顶点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en-US" altLang="zh-CN" sz="1500" b="1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(kk==4)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5965" y="1665637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737648" y="1688944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5722" y="4194319"/>
            <a:ext cx="4714111" cy="2184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5811543" y="426010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793226" y="4283410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46878" y="1362917"/>
            <a:ext cx="3411183" cy="213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75807" y="1113268"/>
            <a:ext cx="13621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144027" y="1115056"/>
            <a:ext cx="147376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-Floyd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5790027" y="4260103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</a:t>
                      </a:r>
                      <a:endParaRPr lang="zh-CN" altLang="en-US" sz="1400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8771710" y="4283410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6878" y="1362917"/>
            <a:ext cx="3411183" cy="213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75807" y="1113268"/>
            <a:ext cx="136212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最短路径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AA</a:t>
            </a:r>
          </a:p>
        </p:txBody>
      </p:sp>
      <p:sp>
        <p:nvSpPr>
          <p:cNvPr id="2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144027" y="1115056"/>
            <a:ext cx="147376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中转顶点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path</a:t>
            </a: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5743419" y="1631575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∞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8725102" y="1654882"/>
          <a:ext cx="22280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41"/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baseline="-25000" dirty="0" smtClean="0"/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1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2</a:t>
                      </a:r>
                      <a:endParaRPr lang="zh-CN" altLang="en-US" sz="1400" baseline="-25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3</a:t>
                      </a:r>
                      <a:endParaRPr lang="zh-CN" altLang="en-US" sz="14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4</a:t>
                      </a:r>
                      <a:endParaRPr lang="zh-CN" altLang="en-US" sz="1400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V</a:t>
                      </a:r>
                      <a:r>
                        <a:rPr lang="en-US" altLang="zh-CN" sz="1400" baseline="-25000" dirty="0" smtClean="0"/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400" kern="1200" baseline="-25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altLang="zh-CN" sz="1400" kern="1200" baseline="-25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1400" kern="1200" baseline="-250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5020" y="3831860"/>
            <a:ext cx="5021987" cy="264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737412" y="3309621"/>
            <a:ext cx="372701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空间  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O(|V|</a:t>
            </a:r>
            <a:r>
              <a:rPr lang="en-US" altLang="zh-CN" sz="15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 </a:t>
            </a: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O(|V|</a:t>
            </a:r>
            <a:r>
              <a:rPr lang="en-US" altLang="zh-CN" sz="1500" b="1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888969" y="1287144"/>
            <a:ext cx="380233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拓扑排序：对一种特殊的图进行遍历。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4261" y="1935051"/>
            <a:ext cx="48958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041369" y="3999948"/>
            <a:ext cx="3802338" cy="7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根据番茄炒蛋的流程图，列出具体的实施步骤。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2458" y="5125122"/>
            <a:ext cx="57340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635624" y="3795546"/>
            <a:ext cx="759489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AOV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Activity On Vertex Network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，用顶点表示活动的网）：用顶点表示活动，用有向边（弧）表示活动时间先后关系的有向无环图（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DAG  Directed Acyclic Graph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：找到做事的先后顺序。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6069" y="1655343"/>
            <a:ext cx="48958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28349" y="3558877"/>
            <a:ext cx="513139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拓扑排序的实现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）从图中选择一个没有前驱（入度为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）的顶点并输出；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）从图中删除该顶点和全部以它为起点的有向边；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）重复步骤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），直到图为空。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拓扑排序的结果不一定是唯一的。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8795" y="1418674"/>
            <a:ext cx="48958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75116" y="1347395"/>
            <a:ext cx="6214451" cy="481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逆拓扑排序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142731" y="3795546"/>
            <a:ext cx="513139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逆拓扑排序的实现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）从图中选择一个没有后继驱（出度为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）的顶点并输出；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）从图中删除该顶点和全部以它为终点的有向边；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）重复步骤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），直到图为空。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逆拓扑排序的结果不一定是唯一的。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26069" y="1655343"/>
            <a:ext cx="489585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39107" y="3806311"/>
            <a:ext cx="513139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拓扑排序的实现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）从图中选择一个没有前驱（入度为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）的顶点并输出；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）从图中删除该顶点和全部以它为起点的有向边；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）重复步骤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），直到图为空。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拓扑排序的结果不一定是唯一的。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带权图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204855" y="1427183"/>
            <a:ext cx="9423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在一个图中，边可以表示某种含义的数值，如顶点之间的距离，该数值称为该边的权值。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图的边如果带上了权值，该图称为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带权图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，或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03467" y="5645973"/>
            <a:ext cx="9423699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带权图中，某条路径上全部的边的权值之和，称为该路径的</a:t>
            </a:r>
            <a:r>
              <a:rPr lang="zh-CN" altLang="en-US" sz="16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带权路径长度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3274" y="2436160"/>
            <a:ext cx="2334446" cy="2996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番茄炒蛋工程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01172"/>
            <a:ext cx="932699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）如果每个步骤都不延误，工程需要多少分钟可以完成？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番茄炒蛋工程</a:t>
            </a:r>
            <a:endParaRPr lang="en-US" altLang="zh-CN" sz="32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01172"/>
            <a:ext cx="93269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）最早什么时候可以把鸡蛋打好？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可以把番茄洗好？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可以开始炒菜？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工程何时结束？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番茄炒蛋工程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01172"/>
            <a:ext cx="932699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）为了保证工程不延期，最晚什么时候必须把菜准备好？必须把番茄洗好？ 必须把鸡蛋打好？ 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番茄炒蛋工程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01172"/>
            <a:ext cx="93269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）最早什么时候可以开始打鸡蛋？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可以开始搅鸡蛋？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可以开始洗番茄？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可以开始切番茄？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可以开始炒菜？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番茄炒蛋工程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01172"/>
            <a:ext cx="93269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）为了保证工程不延期，最迟什么时候必须开始炒菜？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必须开始搅鸡蛋？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必须开始打鸡蛋？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必须开始切番茄？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必须开始洗番茄？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分钟）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番茄炒蛋工程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01172"/>
            <a:ext cx="932699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）工程中哪些活动是允许延迟的？ 哪些是不允许延迟的？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关键路径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947135" y="4333446"/>
            <a:ext cx="93269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工程中最长的路径叫做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关键路径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，关键路径上的活动叫做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关键活动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如果关键活动不能按时完成，工程将被迫延期。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73872" y="1174881"/>
            <a:ext cx="7134225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关键路径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考研真题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88" y="1439601"/>
            <a:ext cx="80486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62362" y="1131851"/>
            <a:ext cx="6668914" cy="294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95313" y="3892368"/>
            <a:ext cx="96818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Activity On Edge Network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，用边表示活动的网）：用顶点表示事件的发生，用有向边（弧）上的权值表示完成该活动的开销（如完成活动需要的时间）的有向无环图（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DAG  Directed Acyclic Graph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 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网有以下特点：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）图中只有一个入度为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的顶点，称为开始顶点（源点），表示整个工程的开始。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）图中只有一个出度为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的顶点，称为结束顶点（汇点），表示整个工程的结束。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）只有在某顶点所代表的事件发生后，从该顶点出发的各有向边所代表的活动才能开始；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）只有在指向某顶点的各有向边所代表的活动全部都结束后，该顶点所代表的事件才能发生。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网中，有些活动可以并行地进行。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3686" y="1295624"/>
            <a:ext cx="47625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64716" y="4451848"/>
            <a:ext cx="44577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259567" y="3332962"/>
            <a:ext cx="579837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网用于表示工程，为了保证工程进度，我们需要关心：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）每个子项目最早和最晚完成的时间；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）每个子项目最早和最晚的开始时间。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AOE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网注意事项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259566" y="3386752"/>
            <a:ext cx="6196405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）缩短关键活动的时间，可以缩短工程的工期；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）当关健活动缩短到一定程度时，关键活动可能会变成非关键活动；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）如果关键活动耗时增加，整个工期将延长。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9893" y="1317140"/>
            <a:ext cx="47625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数组和广义表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95688" y="2262188"/>
            <a:ext cx="50006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一维数组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95313" y="1461132"/>
            <a:ext cx="968188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int  ElemType;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ElemType  a[10];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// 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数组的大小可以用常量，也可以用变量。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507858" y="3194958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假设数组在内存中的起始地址是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0x7ffd64753bf0 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）手算：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a[i]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的址址是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LOC+i*sizeof(ElemType)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）在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语言中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a[i]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的址址是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LOC+i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6875" y="2405224"/>
            <a:ext cx="8570860" cy="477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39473" y="2398945"/>
            <a:ext cx="67418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5793" y="3954376"/>
            <a:ext cx="11124340" cy="477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45040" y="4642869"/>
            <a:ext cx="11107106" cy="47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二维数组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95313" y="1461132"/>
            <a:ext cx="968188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typedef   int  ElemType;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ElemType  a[3][4];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// 3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列的二维数组。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68004" y="5378832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假设二数组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a[m][n]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在内存中的起始地址是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0x7ffd64753bf0  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十六进制）。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）行优先：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a[i][j]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的址址是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 + (i*n+j) * sizeof(ElemType)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）列优先：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a[i][j]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的址址是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LOC + (j*m+i) * sizeof(ElemType)</a:t>
            </a:r>
          </a:p>
        </p:txBody>
      </p:sp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0917" y="3969613"/>
            <a:ext cx="111880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04221" y="4638397"/>
            <a:ext cx="1118803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92243" y="2335699"/>
            <a:ext cx="3279726" cy="140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381078" y="3130368"/>
            <a:ext cx="202064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matlab   fortran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68004" y="4507434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如果用二维数组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[m][n]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存储矩阵，可以对元素进行随机存取。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注意，矩阵中元素的行号和列号缺省从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开始，考试出题也可能从</a:t>
            </a:r>
            <a:r>
              <a:rPr lang="en-US" altLang="zh-CN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开始。</a:t>
            </a:r>
            <a:endParaRPr lang="en-US" altLang="zh-CN" sz="1500" b="1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197675" y="1228158"/>
            <a:ext cx="7603878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是由</a:t>
            </a:r>
            <a:r>
              <a:rPr lang="en-US" altLang="zh-CN" sz="15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2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ⅹ</a:t>
            </a:r>
            <a:r>
              <a:rPr lang="en-US" altLang="zh-CN" sz="15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个元素排成的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列的表，矩阵中的元素也称为格点。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2995990" y="2069065"/>
            <a:ext cx="369526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   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1,n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   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2,n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   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3,n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   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4,n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……   ……    ……   ……   ……     ……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m,1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m,2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m,3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m,4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m,5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   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m,n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53511" y="2034599"/>
            <a:ext cx="266454" cy="2311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47628" y="2077464"/>
            <a:ext cx="226745" cy="232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4438" y="4502971"/>
            <a:ext cx="10771548" cy="467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554834" y="2442907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70526" y="2451306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12355" y="2408441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089" y="1228158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阶矩阵（方阵）中的全部元素都满足以下性质，则称为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j,i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139602" y="2436111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39194" y="5234104"/>
            <a:ext cx="10106942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）把对称矩阵的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个元素压缩存储到的一维数组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需要多大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  2  3 ….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15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*(n+1)/2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(i&gt;=j)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1  2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 i-1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i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*(i-1)/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+ j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 &lt; j 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j,i         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j*(j-1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)/2 +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91675" y="4496755"/>
            <a:ext cx="111880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9333918" y="2492684"/>
            <a:ext cx="14990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上三角区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列号大于行号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4774468" y="3537988"/>
            <a:ext cx="149903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下三角区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行号大于列号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4438" y="3577783"/>
            <a:ext cx="10771548" cy="467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554834" y="1517719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70526" y="1526118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12355" y="1483253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139602" y="1510923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91675" y="3571567"/>
            <a:ext cx="111880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95164" y="4491935"/>
            <a:ext cx="7827963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4438" y="4502971"/>
            <a:ext cx="10771548" cy="467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87838" y="2442907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03530" y="2451306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5359" y="2408441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089" y="1228158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阶矩阵（方阵）中的全部元素都满足以下性质，则称为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j,i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139602" y="2436111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39194" y="5234104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）把对称矩阵的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个元素压缩存储到的一维数组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需要多大？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(n+1)*n/2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(i&gt;=j)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i*(i-1)/2+j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 &lt; j 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j*(j-1)/2+i</a:t>
            </a:r>
          </a:p>
        </p:txBody>
      </p:sp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91675" y="4496755"/>
            <a:ext cx="111880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2398" y="4481452"/>
            <a:ext cx="10822524" cy="46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87838" y="2442907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03530" y="2451306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5359" y="2408441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089" y="1228158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阶矩阵（方阵）中的全部元素都满足以下性质，则称为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j,i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139602" y="2436111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39194" y="5169556"/>
            <a:ext cx="76038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(i&gt;=j)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 &lt; j 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0917" y="4475239"/>
            <a:ext cx="1118803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2398" y="4481452"/>
            <a:ext cx="10822524" cy="46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87838" y="2442907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03530" y="2451306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5359" y="2408441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731089" y="1228158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阶矩阵（方阵）中的全部元素都满足以下性质，则称为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3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= a</a:t>
            </a:r>
            <a:r>
              <a:rPr lang="en-US" altLang="zh-CN" sz="30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j,i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2139602" y="2436111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39194" y="5169556"/>
            <a:ext cx="76038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(i&gt;=j)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(n+(n-j+2))*(j-1)/2+(i-j+1)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 &lt; j 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(n+(n-i+2))*(i-1)/2+(j-i+1)</a:t>
            </a:r>
          </a:p>
        </p:txBody>
      </p:sp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0917" y="4475239"/>
            <a:ext cx="1118803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4713" y="4524484"/>
            <a:ext cx="10270807" cy="4176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39194" y="5212588"/>
            <a:ext cx="7603878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）把矩阵的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个元素压缩存储到的一维数组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需要多大？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(n+1)*n/2+1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(i&gt;=j)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i*(i-1)/2+j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(i &lt; j )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(n+1)*n/2</a:t>
            </a:r>
          </a:p>
        </p:txBody>
      </p:sp>
      <p:sp>
        <p:nvSpPr>
          <p:cNvPr id="36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91675" y="4496755"/>
            <a:ext cx="1118803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行优先</a:t>
            </a:r>
            <a:endParaRPr lang="en-US" altLang="zh-CN" sz="15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77080" y="2227747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92772" y="2236146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4601" y="2193281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2139602" y="2242467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7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84017" y="1309309"/>
            <a:ext cx="760387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下三角矩阵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：对角线和下三角区的元素的值不相同，上三角区元素的值都相同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角矩阵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：对角线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和上三角区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的元素的值不相同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，下三角区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元素的值都相同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77080" y="2410633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1,1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1,2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2,1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2,3 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3,4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92772" y="2419032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4601" y="2376167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对角矩阵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84017" y="1309309"/>
            <a:ext cx="8814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对角矩阵（带状矩阵）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sz="15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ⅹn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的方阵中，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所有非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零元素都集中在以主对角线为中心的带状区域中，区域外的值全为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。常见的有三对角矩阵、五对角矩阵、七对角矩阵等。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139602" y="2382321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2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3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8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25257" y="5589118"/>
            <a:ext cx="8622387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）把对称矩阵的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15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个元素压缩存储到的一维数组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需要多大？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3n-2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 = 3*(i-1)-1+ j-i+2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个元素对应矩阵中的第几行第几列？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91117" y="6263897"/>
            <a:ext cx="13716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32988" y="4348579"/>
            <a:ext cx="8076776" cy="1315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877080" y="2410633"/>
            <a:ext cx="251185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1,5</a:t>
            </a: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5,1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5,2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5,3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5,4     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5,5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92772" y="2419032"/>
            <a:ext cx="181581" cy="185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34601" y="2376167"/>
            <a:ext cx="226287" cy="196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特殊矩阵压缩</a:t>
            </a:r>
            <a:r>
              <a:rPr lang="en-US" altLang="zh-CN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384017" y="1309309"/>
            <a:ext cx="8814232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稀疏矩阵：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元素比较少的矩阵（不一定是方阵）。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2139602" y="2382321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2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25257" y="4620897"/>
            <a:ext cx="1812795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三元组存储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，把行号、列号、值存放到一个结构体数组中，失去了随机存取的优势。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3430539" y="4753781"/>
          <a:ext cx="114030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2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5063249" y="4644201"/>
            <a:ext cx="3725749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十字链表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Wingdings" pitchFamily="2" charset="2"/>
              </a:rPr>
              <a:t>，在图章节中有详细介绍。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6522" y="5082204"/>
            <a:ext cx="6399213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" y="11100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特殊矩阵</a:t>
            </a:r>
            <a:r>
              <a:rPr lang="zh-CN" altLang="en-US" sz="32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  <a:endParaRPr lang="en-US" altLang="zh-CN" sz="3200" dirty="0">
              <a:solidFill>
                <a:srgbClr val="99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09460" y="925137"/>
            <a:ext cx="634676" cy="75303"/>
          </a:xfrm>
          <a:prstGeom prst="rect">
            <a:avLst/>
          </a:prstGeom>
          <a:solidFill>
            <a:srgbClr val="00B0F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767486" y="926925"/>
            <a:ext cx="634676" cy="75303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425512" y="928713"/>
            <a:ext cx="634676" cy="75303"/>
          </a:xfrm>
          <a:prstGeom prst="rect">
            <a:avLst/>
          </a:prstGeom>
          <a:solidFill>
            <a:schemeClr val="tx2">
              <a:lumMod val="75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079962" y="926925"/>
            <a:ext cx="634676" cy="75303"/>
          </a:xfrm>
          <a:prstGeom prst="rect">
            <a:avLst/>
          </a:prstGeom>
          <a:solidFill>
            <a:srgbClr val="FFC000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737988" y="928713"/>
            <a:ext cx="634676" cy="7530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85256" y="930501"/>
            <a:ext cx="634676" cy="75303"/>
          </a:xfrm>
          <a:prstGeom prst="rect">
            <a:avLst/>
          </a:prstGeom>
          <a:solidFill>
            <a:schemeClr val="accent4"/>
          </a:solidFill>
          <a:ln w="3175"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8731479" y="1578242"/>
            <a:ext cx="1230091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稀疏矩阵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357499" y="2145642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2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235960" y="2145642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600942" y="1578242"/>
            <a:ext cx="1230091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对称矩阵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3609806" y="2145642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9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C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7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5983652" y="2145642"/>
          <a:ext cx="18825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87271"/>
                <a:gridCol w="387276"/>
                <a:gridCol w="365760"/>
                <a:gridCol w="37651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2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6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3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4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8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5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7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 smtClean="0">
                          <a:solidFill>
                            <a:srgbClr val="9900CC"/>
                          </a:solidFill>
                        </a:rPr>
                        <a:t>9</a:t>
                      </a:r>
                      <a:endParaRPr lang="zh-CN" altLang="en-US" sz="1400" b="1" dirty="0">
                        <a:solidFill>
                          <a:srgbClr val="99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3990954" y="1578242"/>
            <a:ext cx="1230091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6208823" y="1578242"/>
            <a:ext cx="1230091" cy="39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三对角</a:t>
            </a:r>
            <a:r>
              <a:rPr lang="zh-CN" altLang="en-US" sz="1500" b="1" dirty="0" smtClean="0">
                <a:solidFill>
                  <a:srgbClr val="99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2078" y="4309324"/>
            <a:ext cx="10822524" cy="46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文本框 1">
            <a:extLst>
              <a:ext uri="{FF2B5EF4-FFF2-40B4-BE49-F238E27FC236}">
                <a16:creationId xmlns="" xmlns:a16="http://schemas.microsoft.com/office/drawing/2014/main" id="{9EBE7EC0-2F2A-4A9F-BB83-DBE4093374F9}"/>
              </a:ext>
            </a:extLst>
          </p:cNvPr>
          <p:cNvSpPr txBox="1"/>
          <p:nvPr/>
        </p:nvSpPr>
        <p:spPr>
          <a:xfrm>
            <a:off x="1425257" y="5051218"/>
            <a:ext cx="862238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矩阵中的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15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的第多少个元素？  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个元素对应矩阵中的第几行第几列</a:t>
            </a:r>
            <a:r>
              <a:rPr lang="zh-CN" altLang="en-US" sz="15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5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8754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38223</TotalTime>
  <Words>9760</Words>
  <Application>Microsoft Office PowerPoint</Application>
  <PresentationFormat>自定义</PresentationFormat>
  <Paragraphs>3003</Paragraphs>
  <Slides>122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122</vt:i4>
      </vt:variant>
    </vt:vector>
  </HeadingPairs>
  <TitlesOfParts>
    <vt:vector size="123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幻灯片 60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幻灯片 87</vt:lpstr>
      <vt:lpstr>幻灯片 88</vt:lpstr>
      <vt:lpstr>幻灯片 89</vt:lpstr>
      <vt:lpstr>幻灯片 90</vt:lpstr>
      <vt:lpstr>幻灯片 91</vt:lpstr>
      <vt:lpstr>幻灯片 92</vt:lpstr>
      <vt:lpstr>幻灯片 93</vt:lpstr>
      <vt:lpstr>幻灯片 94</vt:lpstr>
      <vt:lpstr>幻灯片 95</vt:lpstr>
      <vt:lpstr>幻灯片 96</vt:lpstr>
      <vt:lpstr>幻灯片 97</vt:lpstr>
      <vt:lpstr>幻灯片 98</vt:lpstr>
      <vt:lpstr>幻灯片 99</vt:lpstr>
      <vt:lpstr>幻灯片 100</vt:lpstr>
      <vt:lpstr>幻灯片 101</vt:lpstr>
      <vt:lpstr>幻灯片 102</vt:lpstr>
      <vt:lpstr>幻灯片 103</vt:lpstr>
      <vt:lpstr>幻灯片 104</vt:lpstr>
      <vt:lpstr>幻灯片 105</vt:lpstr>
      <vt:lpstr>幻灯片 106</vt:lpstr>
      <vt:lpstr>幻灯片 107</vt:lpstr>
      <vt:lpstr>幻灯片 108</vt:lpstr>
      <vt:lpstr>幻灯片 109</vt:lpstr>
      <vt:lpstr>幻灯片 110</vt:lpstr>
      <vt:lpstr>幻灯片 111</vt:lpstr>
      <vt:lpstr>幻灯片 112</vt:lpstr>
      <vt:lpstr>幻灯片 113</vt:lpstr>
      <vt:lpstr>幻灯片 114</vt:lpstr>
      <vt:lpstr>幻灯片 115</vt:lpstr>
      <vt:lpstr>幻灯片 116</vt:lpstr>
      <vt:lpstr>幻灯片 117</vt:lpstr>
      <vt:lpstr>幻灯片 118</vt:lpstr>
      <vt:lpstr>幻灯片 119</vt:lpstr>
      <vt:lpstr>幻灯片 120</vt:lpstr>
      <vt:lpstr>幻灯片 121</vt:lpstr>
      <vt:lpstr>幻灯片 122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congzhou</dc:creator>
  <cp:lastModifiedBy>Administrator</cp:lastModifiedBy>
  <cp:revision>3560</cp:revision>
  <dcterms:created xsi:type="dcterms:W3CDTF">2020-04-28T04:36:58Z</dcterms:created>
  <dcterms:modified xsi:type="dcterms:W3CDTF">2021-03-24T09:03:43Z</dcterms:modified>
</cp:coreProperties>
</file>